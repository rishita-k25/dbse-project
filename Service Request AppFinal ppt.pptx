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nter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63664" y="0"/>
            <a:ext cx="6724336" cy="10287000"/>
            <a:chOff x="0" y="0"/>
            <a:chExt cx="177101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71019" cy="2709333"/>
            </a:xfrm>
            <a:custGeom>
              <a:avLst/>
              <a:gdLst/>
              <a:ahLst/>
              <a:cxnLst/>
              <a:rect l="l" t="t" r="r" b="b"/>
              <a:pathLst>
                <a:path w="1771019" h="2709333">
                  <a:moveTo>
                    <a:pt x="0" y="0"/>
                  </a:moveTo>
                  <a:lnTo>
                    <a:pt x="1771019" y="0"/>
                  </a:lnTo>
                  <a:lnTo>
                    <a:pt x="177101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7101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147893" y="-891573"/>
            <a:ext cx="11531050" cy="11864405"/>
          </a:xfrm>
          <a:custGeom>
            <a:avLst/>
            <a:gdLst/>
            <a:ahLst/>
            <a:cxnLst/>
            <a:rect l="l" t="t" r="r" b="b"/>
            <a:pathLst>
              <a:path w="11531050" h="11864405">
                <a:moveTo>
                  <a:pt x="0" y="0"/>
                </a:moveTo>
                <a:lnTo>
                  <a:pt x="11531051" y="0"/>
                </a:lnTo>
                <a:lnTo>
                  <a:pt x="11531051" y="11864405"/>
                </a:lnTo>
                <a:lnTo>
                  <a:pt x="0" y="11864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87629" y="2287019"/>
            <a:ext cx="9129018" cy="432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30"/>
              </a:lnSpc>
            </a:pPr>
            <a:r>
              <a:rPr lang="en-US" sz="9360" b="1" spc="-56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SERVICE REQUEST APP FOR HOME SERVICES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737912" y="7893894"/>
            <a:ext cx="1873557" cy="522807"/>
            <a:chOff x="0" y="0"/>
            <a:chExt cx="493447" cy="13769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93447" cy="137694"/>
            </a:xfrm>
            <a:custGeom>
              <a:avLst/>
              <a:gdLst/>
              <a:ahLst/>
              <a:cxnLst/>
              <a:rect l="l" t="t" r="r" b="b"/>
              <a:pathLst>
                <a:path w="493447" h="137694">
                  <a:moveTo>
                    <a:pt x="68847" y="0"/>
                  </a:moveTo>
                  <a:lnTo>
                    <a:pt x="424600" y="0"/>
                  </a:lnTo>
                  <a:cubicBezTo>
                    <a:pt x="462623" y="0"/>
                    <a:pt x="493447" y="30824"/>
                    <a:pt x="493447" y="68847"/>
                  </a:cubicBezTo>
                  <a:lnTo>
                    <a:pt x="493447" y="68847"/>
                  </a:lnTo>
                  <a:cubicBezTo>
                    <a:pt x="493447" y="106870"/>
                    <a:pt x="462623" y="137694"/>
                    <a:pt x="424600" y="137694"/>
                  </a:cubicBezTo>
                  <a:lnTo>
                    <a:pt x="68847" y="137694"/>
                  </a:lnTo>
                  <a:cubicBezTo>
                    <a:pt x="30824" y="137694"/>
                    <a:pt x="0" y="106870"/>
                    <a:pt x="0" y="68847"/>
                  </a:cubicBezTo>
                  <a:lnTo>
                    <a:pt x="0" y="68847"/>
                  </a:lnTo>
                  <a:cubicBezTo>
                    <a:pt x="0" y="30824"/>
                    <a:pt x="30824" y="0"/>
                    <a:pt x="68847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493447" cy="1662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42"/>
                </a:lnSpc>
              </a:pPr>
              <a:r>
                <a:rPr lang="en-US" sz="1387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HOME SERVICES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731981" y="9090795"/>
            <a:ext cx="4058003" cy="1672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849"/>
              </a:lnSpc>
            </a:pPr>
            <a:r>
              <a:rPr lang="en-US" sz="2078" spc="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Team Members:</a:t>
            </a:r>
          </a:p>
          <a:p>
            <a:pPr marL="0" lvl="0" indent="0" algn="l">
              <a:lnSpc>
                <a:spcPts val="1849"/>
              </a:lnSpc>
            </a:pPr>
            <a:endParaRPr lang="en-US" sz="2078" spc="4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1849"/>
              </a:lnSpc>
            </a:pPr>
            <a:r>
              <a:rPr lang="en-US" sz="2078" spc="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2520030367-K.Rishita</a:t>
            </a:r>
          </a:p>
          <a:p>
            <a:pPr marL="0" lvl="0" indent="0" algn="l">
              <a:lnSpc>
                <a:spcPts val="1849"/>
              </a:lnSpc>
            </a:pPr>
            <a:r>
              <a:rPr lang="en-US" sz="2078" spc="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2520030594 — Pydi Devi Sree</a:t>
            </a:r>
          </a:p>
          <a:p>
            <a:pPr marL="0" lvl="0" indent="0" algn="l">
              <a:lnSpc>
                <a:spcPts val="1849"/>
              </a:lnSpc>
            </a:pPr>
            <a:r>
              <a:rPr lang="en-US" sz="2078" spc="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2520030127 — Kallu Shrestha</a:t>
            </a:r>
          </a:p>
          <a:p>
            <a:pPr marL="0" lvl="0" indent="0" algn="l">
              <a:lnSpc>
                <a:spcPts val="1849"/>
              </a:lnSpc>
            </a:pPr>
            <a:endParaRPr lang="en-US" sz="2078" spc="4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>
              <a:lnSpc>
                <a:spcPts val="1849"/>
              </a:lnSpc>
            </a:pPr>
            <a:endParaRPr lang="en-US" sz="2078" spc="4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4278915" y="514733"/>
            <a:ext cx="2796456" cy="608495"/>
            <a:chOff x="0" y="0"/>
            <a:chExt cx="3728608" cy="811327"/>
          </a:xfrm>
        </p:grpSpPr>
        <p:sp>
          <p:nvSpPr>
            <p:cNvPr id="12" name="TextBox 12"/>
            <p:cNvSpPr txBox="1"/>
            <p:nvPr/>
          </p:nvSpPr>
          <p:spPr>
            <a:xfrm>
              <a:off x="955481" y="82232"/>
              <a:ext cx="2773127" cy="72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380"/>
                </a:lnSpc>
              </a:pPr>
              <a:r>
                <a:rPr lang="en-US" sz="1550" spc="-5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 Simple Platform for Managing Home Repair Service Requests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256356" y="280425"/>
            <a:ext cx="3093101" cy="608495"/>
            <a:chOff x="0" y="0"/>
            <a:chExt cx="4124135" cy="811327"/>
          </a:xfrm>
        </p:grpSpPr>
        <p:sp>
          <p:nvSpPr>
            <p:cNvPr id="20" name="TextBox 20"/>
            <p:cNvSpPr txBox="1"/>
            <p:nvPr/>
          </p:nvSpPr>
          <p:spPr>
            <a:xfrm>
              <a:off x="955481" y="82232"/>
              <a:ext cx="3168654" cy="7290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380"/>
                </a:lnSpc>
              </a:pPr>
              <a:r>
                <a:rPr lang="en-US" sz="1550" spc="-51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Project Proposal for a Home Services Request App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681784" y="-5033170"/>
            <a:ext cx="9821922" cy="19892500"/>
          </a:xfrm>
          <a:custGeom>
            <a:avLst/>
            <a:gdLst/>
            <a:ahLst/>
            <a:cxnLst/>
            <a:rect l="l" t="t" r="r" b="b"/>
            <a:pathLst>
              <a:path w="9821922" h="19892500">
                <a:moveTo>
                  <a:pt x="0" y="0"/>
                </a:moveTo>
                <a:lnTo>
                  <a:pt x="9821922" y="0"/>
                </a:lnTo>
                <a:lnTo>
                  <a:pt x="9821922" y="19892500"/>
                </a:lnTo>
                <a:lnTo>
                  <a:pt x="0" y="1989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276350"/>
            <a:ext cx="7489976" cy="2040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6"/>
              </a:lnSpc>
            </a:pPr>
            <a:r>
              <a:rPr lang="en-US" sz="8625" b="1" spc="-51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OVERVIEW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27065" y="6083254"/>
            <a:ext cx="4200529" cy="802931"/>
            <a:chOff x="0" y="0"/>
            <a:chExt cx="1106312" cy="2114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6312" cy="211471"/>
            </a:xfrm>
            <a:custGeom>
              <a:avLst/>
              <a:gdLst/>
              <a:ahLst/>
              <a:cxnLst/>
              <a:rect l="l" t="t" r="r" b="b"/>
              <a:pathLst>
                <a:path w="1106312" h="211471">
                  <a:moveTo>
                    <a:pt x="105736" y="0"/>
                  </a:moveTo>
                  <a:lnTo>
                    <a:pt x="1000576" y="0"/>
                  </a:lnTo>
                  <a:cubicBezTo>
                    <a:pt x="1028619" y="0"/>
                    <a:pt x="1055514" y="11140"/>
                    <a:pt x="1075343" y="30969"/>
                  </a:cubicBezTo>
                  <a:cubicBezTo>
                    <a:pt x="1095172" y="50799"/>
                    <a:pt x="1106312" y="77693"/>
                    <a:pt x="1106312" y="105736"/>
                  </a:cubicBezTo>
                  <a:lnTo>
                    <a:pt x="1106312" y="105736"/>
                  </a:lnTo>
                  <a:cubicBezTo>
                    <a:pt x="1106312" y="164132"/>
                    <a:pt x="1058973" y="211471"/>
                    <a:pt x="1000576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106312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7"/>
                </a:lnSpc>
              </a:pPr>
              <a:r>
                <a:rPr lang="en-US" sz="249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About The Application: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583193" y="1922006"/>
            <a:ext cx="4265614" cy="76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7"/>
              </a:lnSpc>
            </a:pPr>
            <a:r>
              <a:rPr lang="en-US" sz="2498" spc="-8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Customers Can Raise Service Requests Easily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83193" y="5318075"/>
            <a:ext cx="4265614" cy="76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7"/>
              </a:lnSpc>
            </a:pPr>
            <a:r>
              <a:rPr lang="en-US" sz="2498" spc="-8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Technicians Receive &amp; Manage Assigned Requests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435949" y="1028700"/>
            <a:ext cx="560101" cy="560101"/>
            <a:chOff x="0" y="0"/>
            <a:chExt cx="746801" cy="746801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13435949" y="4308526"/>
            <a:ext cx="560101" cy="560101"/>
            <a:chOff x="0" y="0"/>
            <a:chExt cx="746801" cy="746801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277943" y="7129736"/>
            <a:ext cx="8499300" cy="1429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90"/>
              </a:lnSpc>
              <a:spcBef>
                <a:spcPct val="0"/>
              </a:spcBef>
            </a:pPr>
            <a:r>
              <a:rPr lang="en-US" sz="206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proposed application provides a single platform where customers can request home repair services and technicians can manage those requests. Service information is kept organized and accessible for all users.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583193" y="8537575"/>
            <a:ext cx="4265614" cy="76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47"/>
              </a:lnSpc>
            </a:pPr>
            <a:r>
              <a:rPr lang="en-US" sz="2498" spc="-8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Customers Track Request Status In Real Time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435949" y="7588352"/>
            <a:ext cx="560101" cy="560101"/>
            <a:chOff x="0" y="0"/>
            <a:chExt cx="746801" cy="746801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916637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143019" y="2035723"/>
            <a:ext cx="10867840" cy="13208606"/>
          </a:xfrm>
          <a:custGeom>
            <a:avLst/>
            <a:gdLst/>
            <a:ahLst/>
            <a:cxnLst/>
            <a:rect l="l" t="t" r="r" b="b"/>
            <a:pathLst>
              <a:path w="10867840" h="13208606">
                <a:moveTo>
                  <a:pt x="0" y="0"/>
                </a:moveTo>
                <a:lnTo>
                  <a:pt x="10867841" y="0"/>
                </a:lnTo>
                <a:lnTo>
                  <a:pt x="10867841" y="13208606"/>
                </a:lnTo>
                <a:lnTo>
                  <a:pt x="0" y="13208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645107" y="1171575"/>
            <a:ext cx="6997787" cy="693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2"/>
              </a:lnSpc>
            </a:pPr>
            <a:r>
              <a:rPr lang="en-US" sz="5508" b="1" spc="-33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PROBLEM STATEMENT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27065" y="3729974"/>
            <a:ext cx="4200529" cy="802931"/>
            <a:chOff x="0" y="0"/>
            <a:chExt cx="1106312" cy="2114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06312" cy="211471"/>
            </a:xfrm>
            <a:custGeom>
              <a:avLst/>
              <a:gdLst/>
              <a:ahLst/>
              <a:cxnLst/>
              <a:rect l="l" t="t" r="r" b="b"/>
              <a:pathLst>
                <a:path w="1106312" h="211471">
                  <a:moveTo>
                    <a:pt x="105736" y="0"/>
                  </a:moveTo>
                  <a:lnTo>
                    <a:pt x="1000576" y="0"/>
                  </a:lnTo>
                  <a:cubicBezTo>
                    <a:pt x="1028619" y="0"/>
                    <a:pt x="1055514" y="11140"/>
                    <a:pt x="1075343" y="30969"/>
                  </a:cubicBezTo>
                  <a:cubicBezTo>
                    <a:pt x="1095172" y="50799"/>
                    <a:pt x="1106312" y="77693"/>
                    <a:pt x="1106312" y="105736"/>
                  </a:cubicBezTo>
                  <a:lnTo>
                    <a:pt x="1106312" y="105736"/>
                  </a:lnTo>
                  <a:cubicBezTo>
                    <a:pt x="1106312" y="164132"/>
                    <a:pt x="1058973" y="211471"/>
                    <a:pt x="1000576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106312" cy="268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42"/>
                </a:lnSpc>
              </a:pPr>
              <a:r>
                <a:rPr lang="en-US" sz="245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Current Challenges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27065" y="5095875"/>
            <a:ext cx="8696843" cy="1461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57"/>
              </a:lnSpc>
              <a:spcBef>
                <a:spcPct val="0"/>
              </a:spcBef>
            </a:pPr>
            <a:r>
              <a:rPr lang="en-US" sz="21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 service management today is fragmented and inefficient. Customers struggle to find reliable technicians, requests are handled manually, and there is no easy way to track or manage service progress.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06812" y="2571296"/>
            <a:ext cx="4186384" cy="746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</a:pPr>
            <a:r>
              <a:rPr lang="en-US" sz="2458" spc="-8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Request Tracking Or Efficient Service Management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97300" y="6258633"/>
            <a:ext cx="4186384" cy="746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</a:pPr>
            <a:r>
              <a:rPr lang="en-US" sz="2458" spc="-8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Manual Requests And Communication Gaps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06812" y="4022375"/>
            <a:ext cx="4186384" cy="746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99"/>
              </a:lnSpc>
            </a:pPr>
            <a:r>
              <a:rPr lang="en-US" sz="2458" spc="-8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Difficulty Finding Suitable Technicians Quickly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302751" y="4131440"/>
            <a:ext cx="560101" cy="560101"/>
            <a:chOff x="0" y="0"/>
            <a:chExt cx="746801" cy="746801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10446711" y="6356459"/>
            <a:ext cx="560101" cy="560101"/>
            <a:chOff x="0" y="0"/>
            <a:chExt cx="746801" cy="746801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8" name="AutoShape 28"/>
          <p:cNvSpPr/>
          <p:nvPr/>
        </p:nvSpPr>
        <p:spPr>
          <a:xfrm flipV="1">
            <a:off x="0" y="2935687"/>
            <a:ext cx="9227822" cy="0"/>
          </a:xfrm>
          <a:prstGeom prst="line">
            <a:avLst/>
          </a:prstGeom>
          <a:ln w="38100" cap="flat">
            <a:solidFill>
              <a:srgbClr val="23232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10302751" y="2757424"/>
            <a:ext cx="560101" cy="560101"/>
            <a:chOff x="0" y="0"/>
            <a:chExt cx="746801" cy="746801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619391" y="-4211825"/>
            <a:ext cx="9911199" cy="19326839"/>
          </a:xfrm>
          <a:custGeom>
            <a:avLst/>
            <a:gdLst/>
            <a:ahLst/>
            <a:cxnLst/>
            <a:rect l="l" t="t" r="r" b="b"/>
            <a:pathLst>
              <a:path w="9911199" h="19326839">
                <a:moveTo>
                  <a:pt x="0" y="0"/>
                </a:moveTo>
                <a:lnTo>
                  <a:pt x="9911199" y="0"/>
                </a:lnTo>
                <a:lnTo>
                  <a:pt x="9911199" y="19326839"/>
                </a:lnTo>
                <a:lnTo>
                  <a:pt x="0" y="193268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276350"/>
            <a:ext cx="7560693" cy="205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6"/>
              </a:lnSpc>
            </a:pPr>
            <a:r>
              <a:rPr lang="en-US" sz="8625" b="1" spc="-51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PROPOSED SOLUTION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19784" y="5451595"/>
            <a:ext cx="4656099" cy="802931"/>
            <a:chOff x="0" y="0"/>
            <a:chExt cx="1226298" cy="2114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26298" cy="211471"/>
            </a:xfrm>
            <a:custGeom>
              <a:avLst/>
              <a:gdLst/>
              <a:ahLst/>
              <a:cxnLst/>
              <a:rect l="l" t="t" r="r" b="b"/>
              <a:pathLst>
                <a:path w="1226298" h="211471">
                  <a:moveTo>
                    <a:pt x="105736" y="0"/>
                  </a:moveTo>
                  <a:lnTo>
                    <a:pt x="1120562" y="0"/>
                  </a:lnTo>
                  <a:cubicBezTo>
                    <a:pt x="1178958" y="0"/>
                    <a:pt x="1226298" y="47340"/>
                    <a:pt x="1226298" y="105736"/>
                  </a:cubicBezTo>
                  <a:lnTo>
                    <a:pt x="1226298" y="105736"/>
                  </a:lnTo>
                  <a:cubicBezTo>
                    <a:pt x="1226298" y="133779"/>
                    <a:pt x="1215158" y="160673"/>
                    <a:pt x="1195328" y="180502"/>
                  </a:cubicBezTo>
                  <a:cubicBezTo>
                    <a:pt x="1175499" y="200331"/>
                    <a:pt x="1148605" y="211471"/>
                    <a:pt x="1120562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26298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7"/>
                </a:lnSpc>
              </a:pPr>
              <a:r>
                <a:rPr lang="en-US" sz="218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Centralized Mobile App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47636" y="1028700"/>
            <a:ext cx="4736727" cy="802931"/>
            <a:chOff x="0" y="0"/>
            <a:chExt cx="1247533" cy="2114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7533" cy="211471"/>
            </a:xfrm>
            <a:custGeom>
              <a:avLst/>
              <a:gdLst/>
              <a:ahLst/>
              <a:cxnLst/>
              <a:rect l="l" t="t" r="r" b="b"/>
              <a:pathLst>
                <a:path w="1247533" h="211471">
                  <a:moveTo>
                    <a:pt x="105736" y="0"/>
                  </a:moveTo>
                  <a:lnTo>
                    <a:pt x="1141797" y="0"/>
                  </a:lnTo>
                  <a:cubicBezTo>
                    <a:pt x="1200194" y="0"/>
                    <a:pt x="1247533" y="47340"/>
                    <a:pt x="1247533" y="105736"/>
                  </a:cubicBezTo>
                  <a:lnTo>
                    <a:pt x="1247533" y="105736"/>
                  </a:lnTo>
                  <a:cubicBezTo>
                    <a:pt x="1247533" y="133779"/>
                    <a:pt x="1236393" y="160673"/>
                    <a:pt x="1216564" y="180502"/>
                  </a:cubicBezTo>
                  <a:cubicBezTo>
                    <a:pt x="1196735" y="200331"/>
                    <a:pt x="1169840" y="211471"/>
                    <a:pt x="1141797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47533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7"/>
                </a:lnSpc>
              </a:pPr>
              <a:r>
                <a:rPr lang="en-US" sz="218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Customer Selects Service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159135" y="8541703"/>
            <a:ext cx="7151830" cy="802931"/>
            <a:chOff x="0" y="0"/>
            <a:chExt cx="1883610" cy="2114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83610" cy="211471"/>
            </a:xfrm>
            <a:custGeom>
              <a:avLst/>
              <a:gdLst/>
              <a:ahLst/>
              <a:cxnLst/>
              <a:rect l="l" t="t" r="r" b="b"/>
              <a:pathLst>
                <a:path w="1883610" h="211471">
                  <a:moveTo>
                    <a:pt x="105736" y="0"/>
                  </a:moveTo>
                  <a:lnTo>
                    <a:pt x="1777874" y="0"/>
                  </a:lnTo>
                  <a:cubicBezTo>
                    <a:pt x="1836270" y="0"/>
                    <a:pt x="1883610" y="47340"/>
                    <a:pt x="1883610" y="105736"/>
                  </a:cubicBezTo>
                  <a:lnTo>
                    <a:pt x="1883610" y="105736"/>
                  </a:lnTo>
                  <a:cubicBezTo>
                    <a:pt x="1883610" y="164132"/>
                    <a:pt x="1836270" y="211471"/>
                    <a:pt x="1777874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883610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7"/>
                </a:lnSpc>
              </a:pPr>
              <a:r>
                <a:rPr lang="en-US" sz="218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Customer Feedback Submitted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19784" y="6756093"/>
            <a:ext cx="9752167" cy="1231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16"/>
              </a:lnSpc>
              <a:spcBef>
                <a:spcPct val="0"/>
              </a:spcBef>
            </a:pPr>
            <a:r>
              <a:rPr lang="en-US" sz="23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centralized mobile application connecting customers and technicians to manage the full service-request process from request to completion.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3716000" y="1831631"/>
            <a:ext cx="0" cy="671007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10506522" y="6010312"/>
            <a:ext cx="6418957" cy="802931"/>
            <a:chOff x="0" y="0"/>
            <a:chExt cx="1690589" cy="2114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90589" cy="211471"/>
            </a:xfrm>
            <a:custGeom>
              <a:avLst/>
              <a:gdLst/>
              <a:ahLst/>
              <a:cxnLst/>
              <a:rect l="l" t="t" r="r" b="b"/>
              <a:pathLst>
                <a:path w="1690589" h="211471">
                  <a:moveTo>
                    <a:pt x="105736" y="0"/>
                  </a:moveTo>
                  <a:lnTo>
                    <a:pt x="1584854" y="0"/>
                  </a:lnTo>
                  <a:cubicBezTo>
                    <a:pt x="1643250" y="0"/>
                    <a:pt x="1690589" y="47340"/>
                    <a:pt x="1690589" y="105736"/>
                  </a:cubicBezTo>
                  <a:lnTo>
                    <a:pt x="1690589" y="105736"/>
                  </a:lnTo>
                  <a:cubicBezTo>
                    <a:pt x="1690589" y="133779"/>
                    <a:pt x="1679449" y="160673"/>
                    <a:pt x="1659620" y="180502"/>
                  </a:cubicBezTo>
                  <a:cubicBezTo>
                    <a:pt x="1639791" y="200331"/>
                    <a:pt x="1612897" y="211471"/>
                    <a:pt x="1584854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690589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7"/>
                </a:lnSpc>
              </a:pPr>
              <a:r>
                <a:rPr lang="en-US" sz="218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Service Started &amp; Completed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122784" y="3483357"/>
            <a:ext cx="5186432" cy="802931"/>
            <a:chOff x="0" y="0"/>
            <a:chExt cx="1365974" cy="21147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65974" cy="211471"/>
            </a:xfrm>
            <a:custGeom>
              <a:avLst/>
              <a:gdLst/>
              <a:ahLst/>
              <a:cxnLst/>
              <a:rect l="l" t="t" r="r" b="b"/>
              <a:pathLst>
                <a:path w="1365974" h="211471">
                  <a:moveTo>
                    <a:pt x="105736" y="0"/>
                  </a:moveTo>
                  <a:lnTo>
                    <a:pt x="1260238" y="0"/>
                  </a:lnTo>
                  <a:cubicBezTo>
                    <a:pt x="1288281" y="0"/>
                    <a:pt x="1315175" y="11140"/>
                    <a:pt x="1335005" y="30969"/>
                  </a:cubicBezTo>
                  <a:cubicBezTo>
                    <a:pt x="1354834" y="50799"/>
                    <a:pt x="1365974" y="77693"/>
                    <a:pt x="1365974" y="105736"/>
                  </a:cubicBezTo>
                  <a:lnTo>
                    <a:pt x="1365974" y="105736"/>
                  </a:lnTo>
                  <a:cubicBezTo>
                    <a:pt x="1365974" y="164132"/>
                    <a:pt x="1318634" y="211471"/>
                    <a:pt x="1260238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365974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57"/>
                </a:lnSpc>
              </a:pPr>
              <a:r>
                <a:rPr lang="en-US" sz="2184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Request Raised &amp; Technician Assigned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54999" y="2377443"/>
            <a:ext cx="560101" cy="560101"/>
            <a:chOff x="0" y="0"/>
            <a:chExt cx="746801" cy="746801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13454999" y="4829212"/>
            <a:ext cx="560101" cy="560101"/>
            <a:chOff x="0" y="0"/>
            <a:chExt cx="746801" cy="746801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3454999" y="7397422"/>
            <a:ext cx="560101" cy="560101"/>
            <a:chOff x="0" y="0"/>
            <a:chExt cx="746801" cy="746801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-514975"/>
            <a:ext cx="10801975" cy="10801975"/>
          </a:xfrm>
          <a:custGeom>
            <a:avLst/>
            <a:gdLst/>
            <a:ahLst/>
            <a:cxnLst/>
            <a:rect l="l" t="t" r="r" b="b"/>
            <a:pathLst>
              <a:path w="10801975" h="10801975">
                <a:moveTo>
                  <a:pt x="0" y="0"/>
                </a:moveTo>
                <a:lnTo>
                  <a:pt x="10801975" y="0"/>
                </a:lnTo>
                <a:lnTo>
                  <a:pt x="10801975" y="10801975"/>
                </a:lnTo>
                <a:lnTo>
                  <a:pt x="0" y="10801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20211" y="5312697"/>
            <a:ext cx="3170545" cy="802931"/>
            <a:chOff x="0" y="0"/>
            <a:chExt cx="835041" cy="2114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35041" cy="211471"/>
            </a:xfrm>
            <a:custGeom>
              <a:avLst/>
              <a:gdLst/>
              <a:ahLst/>
              <a:cxnLst/>
              <a:rect l="l" t="t" r="r" b="b"/>
              <a:pathLst>
                <a:path w="835041" h="211471">
                  <a:moveTo>
                    <a:pt x="105736" y="0"/>
                  </a:moveTo>
                  <a:lnTo>
                    <a:pt x="729305" y="0"/>
                  </a:lnTo>
                  <a:cubicBezTo>
                    <a:pt x="787701" y="0"/>
                    <a:pt x="835041" y="47340"/>
                    <a:pt x="835041" y="105736"/>
                  </a:cubicBezTo>
                  <a:lnTo>
                    <a:pt x="835041" y="105736"/>
                  </a:lnTo>
                  <a:cubicBezTo>
                    <a:pt x="835041" y="164132"/>
                    <a:pt x="787701" y="211471"/>
                    <a:pt x="729305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35041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7"/>
                </a:lnSpc>
              </a:pPr>
              <a:r>
                <a:rPr lang="en-US" sz="249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Our Goals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9144000" y="3152487"/>
            <a:ext cx="9144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9144000" y="7176123"/>
            <a:ext cx="9144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10650363" y="1374984"/>
            <a:ext cx="777078" cy="845796"/>
            <a:chOff x="0" y="0"/>
            <a:chExt cx="1036103" cy="112772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036103" cy="1127728"/>
              <a:chOff x="0" y="0"/>
              <a:chExt cx="320669" cy="34902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20669" cy="349026"/>
              </a:xfrm>
              <a:custGeom>
                <a:avLst/>
                <a:gdLst/>
                <a:ahLst/>
                <a:cxnLst/>
                <a:rect l="l" t="t" r="r" b="b"/>
                <a:pathLst>
                  <a:path w="320669" h="349026">
                    <a:moveTo>
                      <a:pt x="149443" y="0"/>
                    </a:moveTo>
                    <a:lnTo>
                      <a:pt x="171226" y="0"/>
                    </a:lnTo>
                    <a:cubicBezTo>
                      <a:pt x="210860" y="0"/>
                      <a:pt x="248872" y="15745"/>
                      <a:pt x="276898" y="43771"/>
                    </a:cubicBezTo>
                    <a:cubicBezTo>
                      <a:pt x="304924" y="71797"/>
                      <a:pt x="320669" y="109808"/>
                      <a:pt x="320669" y="149443"/>
                    </a:cubicBezTo>
                    <a:lnTo>
                      <a:pt x="320669" y="199583"/>
                    </a:lnTo>
                    <a:cubicBezTo>
                      <a:pt x="320669" y="282118"/>
                      <a:pt x="253761" y="349026"/>
                      <a:pt x="171226" y="349026"/>
                    </a:cubicBezTo>
                    <a:lnTo>
                      <a:pt x="149443" y="349026"/>
                    </a:lnTo>
                    <a:cubicBezTo>
                      <a:pt x="109808" y="349026"/>
                      <a:pt x="71797" y="333281"/>
                      <a:pt x="43771" y="305255"/>
                    </a:cubicBezTo>
                    <a:cubicBezTo>
                      <a:pt x="15745" y="277229"/>
                      <a:pt x="0" y="239218"/>
                      <a:pt x="0" y="199583"/>
                    </a:cubicBezTo>
                    <a:lnTo>
                      <a:pt x="0" y="149443"/>
                    </a:lnTo>
                    <a:cubicBezTo>
                      <a:pt x="0" y="109808"/>
                      <a:pt x="15745" y="71797"/>
                      <a:pt x="43771" y="43771"/>
                    </a:cubicBezTo>
                    <a:cubicBezTo>
                      <a:pt x="71797" y="15745"/>
                      <a:pt x="109808" y="0"/>
                      <a:pt x="1494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320669" cy="387126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248869" y="354796"/>
              <a:ext cx="538365" cy="410467"/>
            </a:xfrm>
            <a:custGeom>
              <a:avLst/>
              <a:gdLst/>
              <a:ahLst/>
              <a:cxnLst/>
              <a:rect l="l" t="t" r="r" b="b"/>
              <a:pathLst>
                <a:path w="538365" h="410467">
                  <a:moveTo>
                    <a:pt x="0" y="0"/>
                  </a:moveTo>
                  <a:lnTo>
                    <a:pt x="538365" y="0"/>
                  </a:lnTo>
                  <a:lnTo>
                    <a:pt x="538365" y="410467"/>
                  </a:lnTo>
                  <a:lnTo>
                    <a:pt x="0" y="4104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10650363" y="4720602"/>
            <a:ext cx="777078" cy="845796"/>
            <a:chOff x="0" y="0"/>
            <a:chExt cx="1036103" cy="1127728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036103" cy="1127728"/>
              <a:chOff x="0" y="0"/>
              <a:chExt cx="320669" cy="349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320669" cy="349026"/>
              </a:xfrm>
              <a:custGeom>
                <a:avLst/>
                <a:gdLst/>
                <a:ahLst/>
                <a:cxnLst/>
                <a:rect l="l" t="t" r="r" b="b"/>
                <a:pathLst>
                  <a:path w="320669" h="349026">
                    <a:moveTo>
                      <a:pt x="149443" y="0"/>
                    </a:moveTo>
                    <a:lnTo>
                      <a:pt x="171226" y="0"/>
                    </a:lnTo>
                    <a:cubicBezTo>
                      <a:pt x="210860" y="0"/>
                      <a:pt x="248872" y="15745"/>
                      <a:pt x="276898" y="43771"/>
                    </a:cubicBezTo>
                    <a:cubicBezTo>
                      <a:pt x="304924" y="71797"/>
                      <a:pt x="320669" y="109808"/>
                      <a:pt x="320669" y="149443"/>
                    </a:cubicBezTo>
                    <a:lnTo>
                      <a:pt x="320669" y="199583"/>
                    </a:lnTo>
                    <a:cubicBezTo>
                      <a:pt x="320669" y="282118"/>
                      <a:pt x="253761" y="349026"/>
                      <a:pt x="171226" y="349026"/>
                    </a:cubicBezTo>
                    <a:lnTo>
                      <a:pt x="149443" y="349026"/>
                    </a:lnTo>
                    <a:cubicBezTo>
                      <a:pt x="109808" y="349026"/>
                      <a:pt x="71797" y="333281"/>
                      <a:pt x="43771" y="305255"/>
                    </a:cubicBezTo>
                    <a:cubicBezTo>
                      <a:pt x="15745" y="277229"/>
                      <a:pt x="0" y="239218"/>
                      <a:pt x="0" y="199583"/>
                    </a:cubicBezTo>
                    <a:lnTo>
                      <a:pt x="0" y="149443"/>
                    </a:lnTo>
                    <a:cubicBezTo>
                      <a:pt x="0" y="109808"/>
                      <a:pt x="15745" y="71797"/>
                      <a:pt x="43771" y="43771"/>
                    </a:cubicBezTo>
                    <a:cubicBezTo>
                      <a:pt x="71797" y="15745"/>
                      <a:pt x="109808" y="0"/>
                      <a:pt x="1494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320669" cy="387126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248869" y="314117"/>
              <a:ext cx="538365" cy="491825"/>
            </a:xfrm>
            <a:custGeom>
              <a:avLst/>
              <a:gdLst/>
              <a:ahLst/>
              <a:cxnLst/>
              <a:rect l="l" t="t" r="r" b="b"/>
              <a:pathLst>
                <a:path w="538365" h="491825">
                  <a:moveTo>
                    <a:pt x="0" y="0"/>
                  </a:moveTo>
                  <a:lnTo>
                    <a:pt x="538365" y="0"/>
                  </a:lnTo>
                  <a:lnTo>
                    <a:pt x="538365" y="491825"/>
                  </a:lnTo>
                  <a:lnTo>
                    <a:pt x="0" y="491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1887293" y="1407656"/>
            <a:ext cx="4800413" cy="76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7"/>
              </a:lnSpc>
            </a:pPr>
            <a:r>
              <a:rPr lang="en-US" sz="2498" spc="-8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Simplify Service Requests</a:t>
            </a:r>
          </a:p>
          <a:p>
            <a:pPr marL="0" lvl="0" indent="0" algn="l">
              <a:lnSpc>
                <a:spcPts val="3047"/>
              </a:lnSpc>
            </a:pPr>
            <a:r>
              <a:rPr lang="en-US" sz="2498" spc="-8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 Customers &amp; Technicians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1276350"/>
            <a:ext cx="7489976" cy="2040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6"/>
              </a:lnSpc>
            </a:pPr>
            <a:r>
              <a:rPr lang="en-US" sz="8625" b="1" spc="-51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OBJECTIVES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6527" y="6566813"/>
            <a:ext cx="9726636" cy="204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05"/>
              </a:lnSpc>
              <a:spcBef>
                <a:spcPct val="0"/>
              </a:spcBef>
            </a:pPr>
            <a:r>
              <a:rPr lang="en-US" sz="23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Manage service requests efficiently</a:t>
            </a:r>
          </a:p>
          <a:p>
            <a:pPr marL="0" lvl="0" indent="0" algn="just">
              <a:lnSpc>
                <a:spcPts val="3305"/>
              </a:lnSpc>
              <a:spcBef>
                <a:spcPct val="0"/>
              </a:spcBef>
            </a:pPr>
            <a:r>
              <a:rPr lang="en-US" sz="23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Provide a convenient user experience</a:t>
            </a:r>
          </a:p>
          <a:p>
            <a:pPr marL="0" lvl="0" indent="0" algn="just">
              <a:lnSpc>
                <a:spcPts val="3305"/>
              </a:lnSpc>
              <a:spcBef>
                <a:spcPct val="0"/>
              </a:spcBef>
            </a:pPr>
            <a:r>
              <a:rPr lang="en-US" sz="23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Track request status in real-time</a:t>
            </a:r>
          </a:p>
          <a:p>
            <a:pPr marL="0" lvl="0" indent="0" algn="just">
              <a:lnSpc>
                <a:spcPts val="3305"/>
              </a:lnSpc>
              <a:spcBef>
                <a:spcPct val="0"/>
              </a:spcBef>
            </a:pPr>
            <a:r>
              <a:rPr lang="en-US" sz="236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focused set of goals to deliver a seamless home-service experience for both customers and technicians.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87293" y="8107089"/>
            <a:ext cx="3869466" cy="76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7"/>
              </a:lnSpc>
            </a:pPr>
            <a:r>
              <a:rPr lang="en-US" sz="2498" spc="-8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Improve Communication</a:t>
            </a:r>
          </a:p>
          <a:p>
            <a:pPr marL="0" lvl="0" indent="0" algn="l">
              <a:lnSpc>
                <a:spcPts val="3047"/>
              </a:lnSpc>
            </a:pPr>
            <a:r>
              <a:rPr lang="en-US" sz="2498" spc="-8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Across All Parties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87293" y="4756150"/>
            <a:ext cx="3377749" cy="76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7"/>
              </a:lnSpc>
            </a:pPr>
            <a:r>
              <a:rPr lang="en-US" sz="2498" spc="-8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Connect Customers</a:t>
            </a:r>
          </a:p>
          <a:p>
            <a:pPr marL="0" lvl="0" indent="0" algn="l">
              <a:lnSpc>
                <a:spcPts val="3047"/>
              </a:lnSpc>
            </a:pPr>
            <a:r>
              <a:rPr lang="en-US" sz="2498" spc="-8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 Technicians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650363" y="8066219"/>
            <a:ext cx="777078" cy="845796"/>
            <a:chOff x="0" y="0"/>
            <a:chExt cx="1036103" cy="1127728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036103" cy="1127728"/>
              <a:chOff x="0" y="0"/>
              <a:chExt cx="320669" cy="349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320669" cy="349026"/>
              </a:xfrm>
              <a:custGeom>
                <a:avLst/>
                <a:gdLst/>
                <a:ahLst/>
                <a:cxnLst/>
                <a:rect l="l" t="t" r="r" b="b"/>
                <a:pathLst>
                  <a:path w="320669" h="349026">
                    <a:moveTo>
                      <a:pt x="149443" y="0"/>
                    </a:moveTo>
                    <a:lnTo>
                      <a:pt x="171226" y="0"/>
                    </a:lnTo>
                    <a:cubicBezTo>
                      <a:pt x="210860" y="0"/>
                      <a:pt x="248872" y="15745"/>
                      <a:pt x="276898" y="43771"/>
                    </a:cubicBezTo>
                    <a:cubicBezTo>
                      <a:pt x="304924" y="71797"/>
                      <a:pt x="320669" y="109808"/>
                      <a:pt x="320669" y="149443"/>
                    </a:cubicBezTo>
                    <a:lnTo>
                      <a:pt x="320669" y="199583"/>
                    </a:lnTo>
                    <a:cubicBezTo>
                      <a:pt x="320669" y="282118"/>
                      <a:pt x="253761" y="349026"/>
                      <a:pt x="171226" y="349026"/>
                    </a:cubicBezTo>
                    <a:lnTo>
                      <a:pt x="149443" y="349026"/>
                    </a:lnTo>
                    <a:cubicBezTo>
                      <a:pt x="109808" y="349026"/>
                      <a:pt x="71797" y="333281"/>
                      <a:pt x="43771" y="305255"/>
                    </a:cubicBezTo>
                    <a:cubicBezTo>
                      <a:pt x="15745" y="277229"/>
                      <a:pt x="0" y="239218"/>
                      <a:pt x="0" y="199583"/>
                    </a:cubicBezTo>
                    <a:lnTo>
                      <a:pt x="0" y="149443"/>
                    </a:lnTo>
                    <a:cubicBezTo>
                      <a:pt x="0" y="109808"/>
                      <a:pt x="15745" y="71797"/>
                      <a:pt x="43771" y="43771"/>
                    </a:cubicBezTo>
                    <a:cubicBezTo>
                      <a:pt x="71797" y="15745"/>
                      <a:pt x="109808" y="0"/>
                      <a:pt x="14944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320669" cy="387126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0" name="Freeform 30"/>
            <p:cNvSpPr/>
            <p:nvPr/>
          </p:nvSpPr>
          <p:spPr>
            <a:xfrm>
              <a:off x="248869" y="325933"/>
              <a:ext cx="538365" cy="468192"/>
            </a:xfrm>
            <a:custGeom>
              <a:avLst/>
              <a:gdLst/>
              <a:ahLst/>
              <a:cxnLst/>
              <a:rect l="l" t="t" r="r" b="b"/>
              <a:pathLst>
                <a:path w="538365" h="468192">
                  <a:moveTo>
                    <a:pt x="0" y="0"/>
                  </a:moveTo>
                  <a:lnTo>
                    <a:pt x="538365" y="0"/>
                  </a:lnTo>
                  <a:lnTo>
                    <a:pt x="538365" y="468192"/>
                  </a:lnTo>
                  <a:lnTo>
                    <a:pt x="0" y="468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3471095"/>
            <a:ext cx="9910164" cy="10287000"/>
            <a:chOff x="0" y="0"/>
            <a:chExt cx="261008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10084" cy="2709333"/>
            </a:xfrm>
            <a:custGeom>
              <a:avLst/>
              <a:gdLst/>
              <a:ahLst/>
              <a:cxnLst/>
              <a:rect l="l" t="t" r="r" b="b"/>
              <a:pathLst>
                <a:path w="2610084" h="2709333">
                  <a:moveTo>
                    <a:pt x="0" y="0"/>
                  </a:moveTo>
                  <a:lnTo>
                    <a:pt x="2610084" y="0"/>
                  </a:lnTo>
                  <a:lnTo>
                    <a:pt x="261008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1008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3236408"/>
            <a:ext cx="10801975" cy="10801975"/>
          </a:xfrm>
          <a:custGeom>
            <a:avLst/>
            <a:gdLst/>
            <a:ahLst/>
            <a:cxnLst/>
            <a:rect l="l" t="t" r="r" b="b"/>
            <a:pathLst>
              <a:path w="10801975" h="10801975">
                <a:moveTo>
                  <a:pt x="0" y="0"/>
                </a:moveTo>
                <a:lnTo>
                  <a:pt x="10801975" y="0"/>
                </a:lnTo>
                <a:lnTo>
                  <a:pt x="10801975" y="10801975"/>
                </a:lnTo>
                <a:lnTo>
                  <a:pt x="0" y="10801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549485"/>
            <a:ext cx="16230600" cy="104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56"/>
              </a:lnSpc>
            </a:pPr>
            <a:r>
              <a:rPr lang="en-US" sz="8490" b="1" spc="-50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SYSTEM MODULES</a:t>
            </a:r>
          </a:p>
        </p:txBody>
      </p:sp>
      <p:sp>
        <p:nvSpPr>
          <p:cNvPr id="7" name="AutoShape 7"/>
          <p:cNvSpPr/>
          <p:nvPr/>
        </p:nvSpPr>
        <p:spPr>
          <a:xfrm>
            <a:off x="0" y="347109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6815951" y="3069630"/>
            <a:ext cx="3831674" cy="802931"/>
            <a:chOff x="0" y="0"/>
            <a:chExt cx="1009165" cy="2114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9165" cy="211471"/>
            </a:xfrm>
            <a:custGeom>
              <a:avLst/>
              <a:gdLst/>
              <a:ahLst/>
              <a:cxnLst/>
              <a:rect l="l" t="t" r="r" b="b"/>
              <a:pathLst>
                <a:path w="1009165" h="211471">
                  <a:moveTo>
                    <a:pt x="105736" y="0"/>
                  </a:moveTo>
                  <a:lnTo>
                    <a:pt x="903429" y="0"/>
                  </a:lnTo>
                  <a:cubicBezTo>
                    <a:pt x="961826" y="0"/>
                    <a:pt x="1009165" y="47340"/>
                    <a:pt x="1009165" y="105736"/>
                  </a:cubicBezTo>
                  <a:lnTo>
                    <a:pt x="1009165" y="105736"/>
                  </a:lnTo>
                  <a:cubicBezTo>
                    <a:pt x="1009165" y="133779"/>
                    <a:pt x="998025" y="160673"/>
                    <a:pt x="978196" y="180502"/>
                  </a:cubicBezTo>
                  <a:cubicBezTo>
                    <a:pt x="958367" y="200331"/>
                    <a:pt x="931472" y="211471"/>
                    <a:pt x="903429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09165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7"/>
                </a:lnSpc>
              </a:pPr>
              <a:r>
                <a:rPr lang="en-US" sz="249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Grouped by User Type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4320236"/>
            <a:ext cx="3831674" cy="4938064"/>
            <a:chOff x="0" y="0"/>
            <a:chExt cx="1009165" cy="13005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9165" cy="1300560"/>
            </a:xfrm>
            <a:custGeom>
              <a:avLst/>
              <a:gdLst/>
              <a:ahLst/>
              <a:cxnLst/>
              <a:rect l="l" t="t" r="r" b="b"/>
              <a:pathLst>
                <a:path w="1009165" h="1300560">
                  <a:moveTo>
                    <a:pt x="123251" y="0"/>
                  </a:moveTo>
                  <a:lnTo>
                    <a:pt x="885914" y="0"/>
                  </a:lnTo>
                  <a:cubicBezTo>
                    <a:pt x="953984" y="0"/>
                    <a:pt x="1009165" y="55181"/>
                    <a:pt x="1009165" y="123251"/>
                  </a:cubicBezTo>
                  <a:lnTo>
                    <a:pt x="1009165" y="1177309"/>
                  </a:lnTo>
                  <a:cubicBezTo>
                    <a:pt x="1009165" y="1209997"/>
                    <a:pt x="996180" y="1241347"/>
                    <a:pt x="973066" y="1264461"/>
                  </a:cubicBezTo>
                  <a:cubicBezTo>
                    <a:pt x="949952" y="1287575"/>
                    <a:pt x="918602" y="1300560"/>
                    <a:pt x="885914" y="1300560"/>
                  </a:cubicBezTo>
                  <a:lnTo>
                    <a:pt x="123251" y="1300560"/>
                  </a:lnTo>
                  <a:cubicBezTo>
                    <a:pt x="55181" y="1300560"/>
                    <a:pt x="0" y="1245379"/>
                    <a:pt x="0" y="1177309"/>
                  </a:cubicBezTo>
                  <a:lnTo>
                    <a:pt x="0" y="123251"/>
                  </a:lnTo>
                  <a:cubicBezTo>
                    <a:pt x="0" y="55181"/>
                    <a:pt x="55181" y="0"/>
                    <a:pt x="123251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09165" cy="1348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21759" y="4498663"/>
            <a:ext cx="3831674" cy="4938064"/>
            <a:chOff x="0" y="0"/>
            <a:chExt cx="1009165" cy="13005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9165" cy="1300560"/>
            </a:xfrm>
            <a:custGeom>
              <a:avLst/>
              <a:gdLst/>
              <a:ahLst/>
              <a:cxnLst/>
              <a:rect l="l" t="t" r="r" b="b"/>
              <a:pathLst>
                <a:path w="1009165" h="1300560">
                  <a:moveTo>
                    <a:pt x="123251" y="0"/>
                  </a:moveTo>
                  <a:lnTo>
                    <a:pt x="885914" y="0"/>
                  </a:lnTo>
                  <a:cubicBezTo>
                    <a:pt x="953984" y="0"/>
                    <a:pt x="1009165" y="55181"/>
                    <a:pt x="1009165" y="123251"/>
                  </a:cubicBezTo>
                  <a:lnTo>
                    <a:pt x="1009165" y="1177309"/>
                  </a:lnTo>
                  <a:cubicBezTo>
                    <a:pt x="1009165" y="1209997"/>
                    <a:pt x="996180" y="1241347"/>
                    <a:pt x="973066" y="1264461"/>
                  </a:cubicBezTo>
                  <a:cubicBezTo>
                    <a:pt x="949952" y="1287575"/>
                    <a:pt x="918602" y="1300560"/>
                    <a:pt x="885914" y="1300560"/>
                  </a:cubicBezTo>
                  <a:lnTo>
                    <a:pt x="123251" y="1300560"/>
                  </a:lnTo>
                  <a:cubicBezTo>
                    <a:pt x="55181" y="1300560"/>
                    <a:pt x="0" y="1245379"/>
                    <a:pt x="0" y="1177309"/>
                  </a:cubicBezTo>
                  <a:lnTo>
                    <a:pt x="0" y="123251"/>
                  </a:lnTo>
                  <a:cubicBezTo>
                    <a:pt x="0" y="55181"/>
                    <a:pt x="55181" y="0"/>
                    <a:pt x="123251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009165" cy="1348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62090" y="4320236"/>
            <a:ext cx="3831674" cy="4938064"/>
            <a:chOff x="0" y="0"/>
            <a:chExt cx="1009165" cy="13005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9165" cy="1300560"/>
            </a:xfrm>
            <a:custGeom>
              <a:avLst/>
              <a:gdLst/>
              <a:ahLst/>
              <a:cxnLst/>
              <a:rect l="l" t="t" r="r" b="b"/>
              <a:pathLst>
                <a:path w="1009165" h="1300560">
                  <a:moveTo>
                    <a:pt x="123251" y="0"/>
                  </a:moveTo>
                  <a:lnTo>
                    <a:pt x="885914" y="0"/>
                  </a:lnTo>
                  <a:cubicBezTo>
                    <a:pt x="953984" y="0"/>
                    <a:pt x="1009165" y="55181"/>
                    <a:pt x="1009165" y="123251"/>
                  </a:cubicBezTo>
                  <a:lnTo>
                    <a:pt x="1009165" y="1177309"/>
                  </a:lnTo>
                  <a:cubicBezTo>
                    <a:pt x="1009165" y="1209997"/>
                    <a:pt x="996180" y="1241347"/>
                    <a:pt x="973066" y="1264461"/>
                  </a:cubicBezTo>
                  <a:cubicBezTo>
                    <a:pt x="949952" y="1287575"/>
                    <a:pt x="918602" y="1300560"/>
                    <a:pt x="885914" y="1300560"/>
                  </a:cubicBezTo>
                  <a:lnTo>
                    <a:pt x="123251" y="1300560"/>
                  </a:lnTo>
                  <a:cubicBezTo>
                    <a:pt x="55181" y="1300560"/>
                    <a:pt x="0" y="1245379"/>
                    <a:pt x="0" y="1177309"/>
                  </a:cubicBezTo>
                  <a:lnTo>
                    <a:pt x="0" y="123251"/>
                  </a:lnTo>
                  <a:cubicBezTo>
                    <a:pt x="0" y="55181"/>
                    <a:pt x="55181" y="0"/>
                    <a:pt x="123251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09165" cy="1348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23627" y="7000984"/>
            <a:ext cx="4487209" cy="1872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66"/>
              </a:lnSpc>
              <a:spcBef>
                <a:spcPct val="0"/>
              </a:spcBef>
            </a:pPr>
            <a:r>
              <a:rPr lang="en-US" sz="21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Registration/Login</a:t>
            </a:r>
          </a:p>
          <a:p>
            <a:pPr marL="0" lvl="0" indent="0" algn="ctr">
              <a:lnSpc>
                <a:spcPts val="2966"/>
              </a:lnSpc>
              <a:spcBef>
                <a:spcPct val="0"/>
              </a:spcBef>
            </a:pPr>
            <a:r>
              <a:rPr lang="en-US" sz="21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View Services</a:t>
            </a:r>
          </a:p>
          <a:p>
            <a:pPr marL="0" lvl="0" indent="0" algn="ctr">
              <a:lnSpc>
                <a:spcPts val="2966"/>
              </a:lnSpc>
              <a:spcBef>
                <a:spcPct val="0"/>
              </a:spcBef>
            </a:pPr>
            <a:r>
              <a:rPr lang="en-US" sz="21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Raise Service Request</a:t>
            </a:r>
          </a:p>
          <a:p>
            <a:pPr marL="0" lvl="0" indent="0" algn="ctr">
              <a:lnSpc>
                <a:spcPts val="2966"/>
              </a:lnSpc>
              <a:spcBef>
                <a:spcPct val="0"/>
              </a:spcBef>
            </a:pPr>
            <a:r>
              <a:rPr lang="en-US" sz="21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Track Request</a:t>
            </a:r>
          </a:p>
          <a:p>
            <a:pPr marL="0" lvl="0" indent="0" algn="ctr">
              <a:lnSpc>
                <a:spcPts val="2966"/>
              </a:lnSpc>
              <a:spcBef>
                <a:spcPct val="0"/>
              </a:spcBef>
            </a:pPr>
            <a:r>
              <a:rPr lang="en-US" sz="211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Give Feedback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84226" y="6920070"/>
            <a:ext cx="4359774" cy="1820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1"/>
              </a:lnSpc>
              <a:spcBef>
                <a:spcPct val="0"/>
              </a:spcBef>
            </a:pPr>
            <a:r>
              <a:rPr lang="en-US" sz="20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Login</a:t>
            </a:r>
          </a:p>
          <a:p>
            <a:pPr marL="0" lvl="0" indent="0" algn="ctr">
              <a:lnSpc>
                <a:spcPts val="2881"/>
              </a:lnSpc>
              <a:spcBef>
                <a:spcPct val="0"/>
              </a:spcBef>
            </a:pPr>
            <a:r>
              <a:rPr lang="en-US" sz="20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Manage Profile</a:t>
            </a:r>
          </a:p>
          <a:p>
            <a:pPr marL="0" lvl="0" indent="0" algn="ctr">
              <a:lnSpc>
                <a:spcPts val="2881"/>
              </a:lnSpc>
              <a:spcBef>
                <a:spcPct val="0"/>
              </a:spcBef>
            </a:pPr>
            <a:r>
              <a:rPr lang="en-US" sz="20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View Assigned Requests</a:t>
            </a:r>
          </a:p>
          <a:p>
            <a:pPr marL="0" lvl="0" indent="0" algn="ctr">
              <a:lnSpc>
                <a:spcPts val="2881"/>
              </a:lnSpc>
              <a:spcBef>
                <a:spcPct val="0"/>
              </a:spcBef>
            </a:pPr>
            <a:r>
              <a:rPr lang="en-US" sz="20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Accept Request</a:t>
            </a:r>
          </a:p>
          <a:p>
            <a:pPr marL="0" lvl="0" indent="0" algn="ctr">
              <a:lnSpc>
                <a:spcPts val="2881"/>
              </a:lnSpc>
              <a:spcBef>
                <a:spcPct val="0"/>
              </a:spcBef>
            </a:pPr>
            <a:r>
              <a:rPr lang="en-US" sz="205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Update Request Status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038877" y="4891910"/>
            <a:ext cx="1811320" cy="802931"/>
            <a:chOff x="0" y="0"/>
            <a:chExt cx="477056" cy="2114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7056" cy="211471"/>
            </a:xfrm>
            <a:custGeom>
              <a:avLst/>
              <a:gdLst/>
              <a:ahLst/>
              <a:cxnLst/>
              <a:rect l="l" t="t" r="r" b="b"/>
              <a:pathLst>
                <a:path w="477056" h="211471">
                  <a:moveTo>
                    <a:pt x="105736" y="0"/>
                  </a:moveTo>
                  <a:lnTo>
                    <a:pt x="371320" y="0"/>
                  </a:lnTo>
                  <a:cubicBezTo>
                    <a:pt x="429716" y="0"/>
                    <a:pt x="477056" y="47340"/>
                    <a:pt x="477056" y="105736"/>
                  </a:cubicBezTo>
                  <a:lnTo>
                    <a:pt x="477056" y="105736"/>
                  </a:lnTo>
                  <a:cubicBezTo>
                    <a:pt x="477056" y="133779"/>
                    <a:pt x="465916" y="160673"/>
                    <a:pt x="446086" y="180502"/>
                  </a:cubicBezTo>
                  <a:cubicBezTo>
                    <a:pt x="426257" y="200331"/>
                    <a:pt x="399363" y="211471"/>
                    <a:pt x="371320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77056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7"/>
                </a:lnSpc>
              </a:pPr>
              <a:r>
                <a:rPr lang="en-US" sz="249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Customer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72267" y="4891910"/>
            <a:ext cx="1811320" cy="802931"/>
            <a:chOff x="0" y="0"/>
            <a:chExt cx="477056" cy="21147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77056" cy="211471"/>
            </a:xfrm>
            <a:custGeom>
              <a:avLst/>
              <a:gdLst/>
              <a:ahLst/>
              <a:cxnLst/>
              <a:rect l="l" t="t" r="r" b="b"/>
              <a:pathLst>
                <a:path w="477056" h="211471">
                  <a:moveTo>
                    <a:pt x="105736" y="0"/>
                  </a:moveTo>
                  <a:lnTo>
                    <a:pt x="371320" y="0"/>
                  </a:lnTo>
                  <a:cubicBezTo>
                    <a:pt x="429716" y="0"/>
                    <a:pt x="477056" y="47340"/>
                    <a:pt x="477056" y="105736"/>
                  </a:cubicBezTo>
                  <a:lnTo>
                    <a:pt x="477056" y="105736"/>
                  </a:lnTo>
                  <a:cubicBezTo>
                    <a:pt x="477056" y="133779"/>
                    <a:pt x="465916" y="160673"/>
                    <a:pt x="446086" y="180502"/>
                  </a:cubicBezTo>
                  <a:cubicBezTo>
                    <a:pt x="426257" y="200331"/>
                    <a:pt x="399363" y="211471"/>
                    <a:pt x="371320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477056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7"/>
                </a:lnSpc>
              </a:pPr>
              <a:r>
                <a:rPr lang="en-US" sz="249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Technician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305658" y="4891910"/>
            <a:ext cx="1811320" cy="802931"/>
            <a:chOff x="0" y="0"/>
            <a:chExt cx="477056" cy="21147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77056" cy="211471"/>
            </a:xfrm>
            <a:custGeom>
              <a:avLst/>
              <a:gdLst/>
              <a:ahLst/>
              <a:cxnLst/>
              <a:rect l="l" t="t" r="r" b="b"/>
              <a:pathLst>
                <a:path w="477056" h="211471">
                  <a:moveTo>
                    <a:pt x="105736" y="0"/>
                  </a:moveTo>
                  <a:lnTo>
                    <a:pt x="371320" y="0"/>
                  </a:lnTo>
                  <a:cubicBezTo>
                    <a:pt x="429716" y="0"/>
                    <a:pt x="477056" y="47340"/>
                    <a:pt x="477056" y="105736"/>
                  </a:cubicBezTo>
                  <a:lnTo>
                    <a:pt x="477056" y="105736"/>
                  </a:lnTo>
                  <a:cubicBezTo>
                    <a:pt x="477056" y="133779"/>
                    <a:pt x="465916" y="160673"/>
                    <a:pt x="446086" y="180502"/>
                  </a:cubicBezTo>
                  <a:cubicBezTo>
                    <a:pt x="426257" y="200331"/>
                    <a:pt x="399363" y="211471"/>
                    <a:pt x="371320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477056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7"/>
                </a:lnSpc>
              </a:pPr>
              <a:r>
                <a:rPr lang="en-US" sz="2498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Admin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492042" y="5852981"/>
            <a:ext cx="2874571" cy="860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MODULE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64902" y="5852981"/>
            <a:ext cx="2874571" cy="860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TECHNICIAN MODULE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96774" y="6920070"/>
            <a:ext cx="4281643" cy="1430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30"/>
              </a:lnSpc>
              <a:spcBef>
                <a:spcPct val="0"/>
              </a:spcBef>
            </a:pPr>
            <a:r>
              <a:rPr lang="en-US" sz="202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Manage Customers</a:t>
            </a:r>
          </a:p>
          <a:p>
            <a:pPr marL="0" lvl="0" indent="0" algn="ctr">
              <a:lnSpc>
                <a:spcPts val="2830"/>
              </a:lnSpc>
              <a:spcBef>
                <a:spcPct val="0"/>
              </a:spcBef>
            </a:pPr>
            <a:r>
              <a:rPr lang="en-US" sz="202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Manage Technicians</a:t>
            </a:r>
          </a:p>
          <a:p>
            <a:pPr marL="0" lvl="0" indent="0" algn="ctr">
              <a:lnSpc>
                <a:spcPts val="2830"/>
              </a:lnSpc>
              <a:spcBef>
                <a:spcPct val="0"/>
              </a:spcBef>
            </a:pPr>
            <a:r>
              <a:rPr lang="en-US" sz="202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Manage Services</a:t>
            </a:r>
          </a:p>
          <a:p>
            <a:pPr marL="0" lvl="0" indent="0" algn="ctr">
              <a:lnSpc>
                <a:spcPts val="2830"/>
              </a:lnSpc>
              <a:spcBef>
                <a:spcPct val="0"/>
              </a:spcBef>
            </a:pPr>
            <a:r>
              <a:rPr lang="en-US" sz="202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Manage Service Requests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774033" y="6291131"/>
            <a:ext cx="2874571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ADMIN MODULE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10287000"/>
            <a:chOff x="0" y="0"/>
            <a:chExt cx="240829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2709333"/>
            </a:xfrm>
            <a:custGeom>
              <a:avLst/>
              <a:gdLst/>
              <a:ahLst/>
              <a:cxnLst/>
              <a:rect l="l" t="t" r="r" b="b"/>
              <a:pathLst>
                <a:path w="2408296" h="2709333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08296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441195" y="-3007203"/>
            <a:ext cx="16100942" cy="16043948"/>
          </a:xfrm>
          <a:custGeom>
            <a:avLst/>
            <a:gdLst/>
            <a:ahLst/>
            <a:cxnLst/>
            <a:rect l="l" t="t" r="r" b="b"/>
            <a:pathLst>
              <a:path w="16100942" h="16043948">
                <a:moveTo>
                  <a:pt x="0" y="0"/>
                </a:moveTo>
                <a:lnTo>
                  <a:pt x="16100943" y="0"/>
                </a:lnTo>
                <a:lnTo>
                  <a:pt x="16100943" y="16043947"/>
                </a:lnTo>
                <a:lnTo>
                  <a:pt x="0" y="160439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238250"/>
            <a:ext cx="7560693" cy="882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90"/>
              </a:lnSpc>
            </a:pPr>
            <a:r>
              <a:rPr lang="en-US" sz="7179" b="1" spc="-43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DATABASE DESIGN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1356" y="3483357"/>
            <a:ext cx="4656099" cy="802931"/>
            <a:chOff x="0" y="0"/>
            <a:chExt cx="1226298" cy="2114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26298" cy="211471"/>
            </a:xfrm>
            <a:custGeom>
              <a:avLst/>
              <a:gdLst/>
              <a:ahLst/>
              <a:cxnLst/>
              <a:rect l="l" t="t" r="r" b="b"/>
              <a:pathLst>
                <a:path w="1226298" h="211471">
                  <a:moveTo>
                    <a:pt x="105736" y="0"/>
                  </a:moveTo>
                  <a:lnTo>
                    <a:pt x="1120562" y="0"/>
                  </a:lnTo>
                  <a:cubicBezTo>
                    <a:pt x="1178958" y="0"/>
                    <a:pt x="1226298" y="47340"/>
                    <a:pt x="1226298" y="105736"/>
                  </a:cubicBezTo>
                  <a:lnTo>
                    <a:pt x="1226298" y="105736"/>
                  </a:lnTo>
                  <a:cubicBezTo>
                    <a:pt x="1226298" y="133779"/>
                    <a:pt x="1215158" y="160673"/>
                    <a:pt x="1195328" y="180502"/>
                  </a:cubicBezTo>
                  <a:cubicBezTo>
                    <a:pt x="1175499" y="200331"/>
                    <a:pt x="1148605" y="211471"/>
                    <a:pt x="1120562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226298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Key Concepts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47636" y="1028700"/>
            <a:ext cx="4736727" cy="802931"/>
            <a:chOff x="0" y="0"/>
            <a:chExt cx="1247533" cy="2114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7533" cy="211471"/>
            </a:xfrm>
            <a:custGeom>
              <a:avLst/>
              <a:gdLst/>
              <a:ahLst/>
              <a:cxnLst/>
              <a:rect l="l" t="t" r="r" b="b"/>
              <a:pathLst>
                <a:path w="1247533" h="211471">
                  <a:moveTo>
                    <a:pt x="105736" y="0"/>
                  </a:moveTo>
                  <a:lnTo>
                    <a:pt x="1141797" y="0"/>
                  </a:lnTo>
                  <a:cubicBezTo>
                    <a:pt x="1200194" y="0"/>
                    <a:pt x="1247533" y="47340"/>
                    <a:pt x="1247533" y="105736"/>
                  </a:cubicBezTo>
                  <a:lnTo>
                    <a:pt x="1247533" y="105736"/>
                  </a:lnTo>
                  <a:cubicBezTo>
                    <a:pt x="1247533" y="133779"/>
                    <a:pt x="1236393" y="160673"/>
                    <a:pt x="1216564" y="180502"/>
                  </a:cubicBezTo>
                  <a:cubicBezTo>
                    <a:pt x="1196735" y="200331"/>
                    <a:pt x="1169840" y="211471"/>
                    <a:pt x="1141797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47533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Customer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159135" y="8541703"/>
            <a:ext cx="7151830" cy="802931"/>
            <a:chOff x="0" y="0"/>
            <a:chExt cx="1883610" cy="2114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83610" cy="211471"/>
            </a:xfrm>
            <a:custGeom>
              <a:avLst/>
              <a:gdLst/>
              <a:ahLst/>
              <a:cxnLst/>
              <a:rect l="l" t="t" r="r" b="b"/>
              <a:pathLst>
                <a:path w="1883610" h="211471">
                  <a:moveTo>
                    <a:pt x="105736" y="0"/>
                  </a:moveTo>
                  <a:lnTo>
                    <a:pt x="1777874" y="0"/>
                  </a:lnTo>
                  <a:cubicBezTo>
                    <a:pt x="1836270" y="0"/>
                    <a:pt x="1883610" y="47340"/>
                    <a:pt x="1883610" y="105736"/>
                  </a:cubicBezTo>
                  <a:lnTo>
                    <a:pt x="1883610" y="105736"/>
                  </a:lnTo>
                  <a:cubicBezTo>
                    <a:pt x="1883610" y="164132"/>
                    <a:pt x="1836270" y="211471"/>
                    <a:pt x="1777874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883610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Service (Type &amp; Details)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58170" y="4605590"/>
            <a:ext cx="11678706" cy="195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72"/>
              </a:lnSpc>
              <a:spcBef>
                <a:spcPct val="0"/>
              </a:spcBef>
            </a:pPr>
            <a:r>
              <a:rPr lang="en-US" sz="283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MySQL stores structured data: customers, technicians, services &amp; requests</a:t>
            </a:r>
          </a:p>
          <a:p>
            <a:pPr marL="0" lvl="0" indent="0" algn="just">
              <a:lnSpc>
                <a:spcPts val="3972"/>
              </a:lnSpc>
              <a:spcBef>
                <a:spcPct val="0"/>
              </a:spcBef>
            </a:pPr>
            <a:r>
              <a:rPr lang="en-US" sz="283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MySQL Workbench used for design and management</a:t>
            </a:r>
          </a:p>
          <a:p>
            <a:pPr marL="0" lvl="0" indent="0" algn="just">
              <a:lnSpc>
                <a:spcPts val="3972"/>
              </a:lnSpc>
              <a:spcBef>
                <a:spcPct val="0"/>
              </a:spcBef>
            </a:pPr>
            <a:r>
              <a:rPr lang="en-US" sz="283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Tables, Primary Keys, Foreign Keys &amp; Relationships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3716000" y="1831631"/>
            <a:ext cx="0" cy="6710072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10506522" y="6010312"/>
            <a:ext cx="6418957" cy="802931"/>
            <a:chOff x="0" y="0"/>
            <a:chExt cx="1690589" cy="21147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90589" cy="211471"/>
            </a:xfrm>
            <a:custGeom>
              <a:avLst/>
              <a:gdLst/>
              <a:ahLst/>
              <a:cxnLst/>
              <a:rect l="l" t="t" r="r" b="b"/>
              <a:pathLst>
                <a:path w="1690589" h="211471">
                  <a:moveTo>
                    <a:pt x="105736" y="0"/>
                  </a:moveTo>
                  <a:lnTo>
                    <a:pt x="1584854" y="0"/>
                  </a:lnTo>
                  <a:cubicBezTo>
                    <a:pt x="1643250" y="0"/>
                    <a:pt x="1690589" y="47340"/>
                    <a:pt x="1690589" y="105736"/>
                  </a:cubicBezTo>
                  <a:lnTo>
                    <a:pt x="1690589" y="105736"/>
                  </a:lnTo>
                  <a:cubicBezTo>
                    <a:pt x="1690589" y="133779"/>
                    <a:pt x="1679449" y="160673"/>
                    <a:pt x="1659620" y="180502"/>
                  </a:cubicBezTo>
                  <a:cubicBezTo>
                    <a:pt x="1639791" y="200331"/>
                    <a:pt x="1612897" y="211471"/>
                    <a:pt x="1584854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690589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Technician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122784" y="3483357"/>
            <a:ext cx="5186432" cy="802931"/>
            <a:chOff x="0" y="0"/>
            <a:chExt cx="1365974" cy="21147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65974" cy="211471"/>
            </a:xfrm>
            <a:custGeom>
              <a:avLst/>
              <a:gdLst/>
              <a:ahLst/>
              <a:cxnLst/>
              <a:rect l="l" t="t" r="r" b="b"/>
              <a:pathLst>
                <a:path w="1365974" h="211471">
                  <a:moveTo>
                    <a:pt x="105736" y="0"/>
                  </a:moveTo>
                  <a:lnTo>
                    <a:pt x="1260238" y="0"/>
                  </a:lnTo>
                  <a:cubicBezTo>
                    <a:pt x="1288281" y="0"/>
                    <a:pt x="1315175" y="11140"/>
                    <a:pt x="1335005" y="30969"/>
                  </a:cubicBezTo>
                  <a:cubicBezTo>
                    <a:pt x="1354834" y="50799"/>
                    <a:pt x="1365974" y="77693"/>
                    <a:pt x="1365974" y="105736"/>
                  </a:cubicBezTo>
                  <a:lnTo>
                    <a:pt x="1365974" y="105736"/>
                  </a:lnTo>
                  <a:cubicBezTo>
                    <a:pt x="1365974" y="164132"/>
                    <a:pt x="1318634" y="211471"/>
                    <a:pt x="1260238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365974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Service Request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54999" y="2377443"/>
            <a:ext cx="560101" cy="560101"/>
            <a:chOff x="0" y="0"/>
            <a:chExt cx="746801" cy="746801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1" name="Group 31"/>
          <p:cNvGrpSpPr/>
          <p:nvPr/>
        </p:nvGrpSpPr>
        <p:grpSpPr>
          <a:xfrm>
            <a:off x="13454999" y="4829212"/>
            <a:ext cx="560101" cy="560101"/>
            <a:chOff x="0" y="0"/>
            <a:chExt cx="746801" cy="746801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13454999" y="7397422"/>
            <a:ext cx="560101" cy="560101"/>
            <a:chOff x="0" y="0"/>
            <a:chExt cx="746801" cy="746801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3471095"/>
            <a:ext cx="9910164" cy="10287000"/>
            <a:chOff x="0" y="0"/>
            <a:chExt cx="261008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10084" cy="2709333"/>
            </a:xfrm>
            <a:custGeom>
              <a:avLst/>
              <a:gdLst/>
              <a:ahLst/>
              <a:cxnLst/>
              <a:rect l="l" t="t" r="r" b="b"/>
              <a:pathLst>
                <a:path w="2610084" h="2709333">
                  <a:moveTo>
                    <a:pt x="0" y="0"/>
                  </a:moveTo>
                  <a:lnTo>
                    <a:pt x="2610084" y="0"/>
                  </a:lnTo>
                  <a:lnTo>
                    <a:pt x="261008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1008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3471095"/>
            <a:ext cx="10801975" cy="10801975"/>
          </a:xfrm>
          <a:custGeom>
            <a:avLst/>
            <a:gdLst/>
            <a:ahLst/>
            <a:cxnLst/>
            <a:rect l="l" t="t" r="r" b="b"/>
            <a:pathLst>
              <a:path w="10801975" h="10801975">
                <a:moveTo>
                  <a:pt x="0" y="0"/>
                </a:moveTo>
                <a:lnTo>
                  <a:pt x="10801975" y="0"/>
                </a:lnTo>
                <a:lnTo>
                  <a:pt x="10801975" y="10801975"/>
                </a:lnTo>
                <a:lnTo>
                  <a:pt x="0" y="10801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549485"/>
            <a:ext cx="16230600" cy="104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56"/>
              </a:lnSpc>
            </a:pPr>
            <a:r>
              <a:rPr lang="en-US" sz="8490" b="1" spc="-50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BACKEND &amp; API OVERVIEW</a:t>
            </a:r>
          </a:p>
        </p:txBody>
      </p:sp>
      <p:sp>
        <p:nvSpPr>
          <p:cNvPr id="7" name="AutoShape 7"/>
          <p:cNvSpPr/>
          <p:nvPr/>
        </p:nvSpPr>
        <p:spPr>
          <a:xfrm>
            <a:off x="0" y="347109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6815951" y="3069630"/>
            <a:ext cx="3831674" cy="804099"/>
            <a:chOff x="0" y="0"/>
            <a:chExt cx="1009165" cy="21177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9165" cy="211779"/>
            </a:xfrm>
            <a:custGeom>
              <a:avLst/>
              <a:gdLst/>
              <a:ahLst/>
              <a:cxnLst/>
              <a:rect l="l" t="t" r="r" b="b"/>
              <a:pathLst>
                <a:path w="1009165" h="211779">
                  <a:moveTo>
                    <a:pt x="105890" y="0"/>
                  </a:moveTo>
                  <a:lnTo>
                    <a:pt x="903276" y="0"/>
                  </a:lnTo>
                  <a:cubicBezTo>
                    <a:pt x="961757" y="0"/>
                    <a:pt x="1009165" y="47408"/>
                    <a:pt x="1009165" y="105890"/>
                  </a:cubicBezTo>
                  <a:lnTo>
                    <a:pt x="1009165" y="105890"/>
                  </a:lnTo>
                  <a:cubicBezTo>
                    <a:pt x="1009165" y="133973"/>
                    <a:pt x="998009" y="160907"/>
                    <a:pt x="978151" y="180765"/>
                  </a:cubicBezTo>
                  <a:cubicBezTo>
                    <a:pt x="958293" y="200623"/>
                    <a:pt x="931359" y="211779"/>
                    <a:pt x="903276" y="211779"/>
                  </a:cubicBezTo>
                  <a:lnTo>
                    <a:pt x="105890" y="211779"/>
                  </a:lnTo>
                  <a:cubicBezTo>
                    <a:pt x="47408" y="211779"/>
                    <a:pt x="0" y="164371"/>
                    <a:pt x="0" y="105890"/>
                  </a:cubicBezTo>
                  <a:lnTo>
                    <a:pt x="0" y="105890"/>
                  </a:lnTo>
                  <a:cubicBezTo>
                    <a:pt x="0" y="47408"/>
                    <a:pt x="47408" y="0"/>
                    <a:pt x="105890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09165" cy="2594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9"/>
                </a:lnSpc>
              </a:pPr>
              <a:r>
                <a:rPr lang="en-US" sz="209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Flutter App → REST API → Node.js → MySQL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4320236"/>
            <a:ext cx="3831674" cy="4938064"/>
            <a:chOff x="0" y="0"/>
            <a:chExt cx="1009165" cy="13005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9165" cy="1300560"/>
            </a:xfrm>
            <a:custGeom>
              <a:avLst/>
              <a:gdLst/>
              <a:ahLst/>
              <a:cxnLst/>
              <a:rect l="l" t="t" r="r" b="b"/>
              <a:pathLst>
                <a:path w="1009165" h="1300560">
                  <a:moveTo>
                    <a:pt x="123251" y="0"/>
                  </a:moveTo>
                  <a:lnTo>
                    <a:pt x="885914" y="0"/>
                  </a:lnTo>
                  <a:cubicBezTo>
                    <a:pt x="953984" y="0"/>
                    <a:pt x="1009165" y="55181"/>
                    <a:pt x="1009165" y="123251"/>
                  </a:cubicBezTo>
                  <a:lnTo>
                    <a:pt x="1009165" y="1177309"/>
                  </a:lnTo>
                  <a:cubicBezTo>
                    <a:pt x="1009165" y="1209997"/>
                    <a:pt x="996180" y="1241347"/>
                    <a:pt x="973066" y="1264461"/>
                  </a:cubicBezTo>
                  <a:cubicBezTo>
                    <a:pt x="949952" y="1287575"/>
                    <a:pt x="918602" y="1300560"/>
                    <a:pt x="885914" y="1300560"/>
                  </a:cubicBezTo>
                  <a:lnTo>
                    <a:pt x="123251" y="1300560"/>
                  </a:lnTo>
                  <a:cubicBezTo>
                    <a:pt x="55181" y="1300560"/>
                    <a:pt x="0" y="1245379"/>
                    <a:pt x="0" y="1177309"/>
                  </a:cubicBezTo>
                  <a:lnTo>
                    <a:pt x="0" y="123251"/>
                  </a:lnTo>
                  <a:cubicBezTo>
                    <a:pt x="0" y="55181"/>
                    <a:pt x="55181" y="0"/>
                    <a:pt x="123251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09165" cy="1348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8565" y="4320236"/>
            <a:ext cx="3831674" cy="4938064"/>
            <a:chOff x="0" y="0"/>
            <a:chExt cx="1009165" cy="13005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9165" cy="1300560"/>
            </a:xfrm>
            <a:custGeom>
              <a:avLst/>
              <a:gdLst/>
              <a:ahLst/>
              <a:cxnLst/>
              <a:rect l="l" t="t" r="r" b="b"/>
              <a:pathLst>
                <a:path w="1009165" h="1300560">
                  <a:moveTo>
                    <a:pt x="123251" y="0"/>
                  </a:moveTo>
                  <a:lnTo>
                    <a:pt x="885914" y="0"/>
                  </a:lnTo>
                  <a:cubicBezTo>
                    <a:pt x="953984" y="0"/>
                    <a:pt x="1009165" y="55181"/>
                    <a:pt x="1009165" y="123251"/>
                  </a:cubicBezTo>
                  <a:lnTo>
                    <a:pt x="1009165" y="1177309"/>
                  </a:lnTo>
                  <a:cubicBezTo>
                    <a:pt x="1009165" y="1209997"/>
                    <a:pt x="996180" y="1241347"/>
                    <a:pt x="973066" y="1264461"/>
                  </a:cubicBezTo>
                  <a:cubicBezTo>
                    <a:pt x="949952" y="1287575"/>
                    <a:pt x="918602" y="1300560"/>
                    <a:pt x="885914" y="1300560"/>
                  </a:cubicBezTo>
                  <a:lnTo>
                    <a:pt x="123251" y="1300560"/>
                  </a:lnTo>
                  <a:cubicBezTo>
                    <a:pt x="55181" y="1300560"/>
                    <a:pt x="0" y="1245379"/>
                    <a:pt x="0" y="1177309"/>
                  </a:cubicBezTo>
                  <a:lnTo>
                    <a:pt x="0" y="123251"/>
                  </a:lnTo>
                  <a:cubicBezTo>
                    <a:pt x="0" y="55181"/>
                    <a:pt x="55181" y="0"/>
                    <a:pt x="123251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009165" cy="1348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62090" y="4320236"/>
            <a:ext cx="3831674" cy="4938064"/>
            <a:chOff x="0" y="0"/>
            <a:chExt cx="1009165" cy="13005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9165" cy="1300560"/>
            </a:xfrm>
            <a:custGeom>
              <a:avLst/>
              <a:gdLst/>
              <a:ahLst/>
              <a:cxnLst/>
              <a:rect l="l" t="t" r="r" b="b"/>
              <a:pathLst>
                <a:path w="1009165" h="1300560">
                  <a:moveTo>
                    <a:pt x="123251" y="0"/>
                  </a:moveTo>
                  <a:lnTo>
                    <a:pt x="885914" y="0"/>
                  </a:lnTo>
                  <a:cubicBezTo>
                    <a:pt x="953984" y="0"/>
                    <a:pt x="1009165" y="55181"/>
                    <a:pt x="1009165" y="123251"/>
                  </a:cubicBezTo>
                  <a:lnTo>
                    <a:pt x="1009165" y="1177309"/>
                  </a:lnTo>
                  <a:cubicBezTo>
                    <a:pt x="1009165" y="1209997"/>
                    <a:pt x="996180" y="1241347"/>
                    <a:pt x="973066" y="1264461"/>
                  </a:cubicBezTo>
                  <a:cubicBezTo>
                    <a:pt x="949952" y="1287575"/>
                    <a:pt x="918602" y="1300560"/>
                    <a:pt x="885914" y="1300560"/>
                  </a:cubicBezTo>
                  <a:lnTo>
                    <a:pt x="123251" y="1300560"/>
                  </a:lnTo>
                  <a:cubicBezTo>
                    <a:pt x="55181" y="1300560"/>
                    <a:pt x="0" y="1245379"/>
                    <a:pt x="0" y="1177309"/>
                  </a:cubicBezTo>
                  <a:lnTo>
                    <a:pt x="0" y="123251"/>
                  </a:lnTo>
                  <a:cubicBezTo>
                    <a:pt x="0" y="55181"/>
                    <a:pt x="55181" y="0"/>
                    <a:pt x="123251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09165" cy="1348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22461" y="7438576"/>
            <a:ext cx="2844153" cy="11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Cross-platform mobile UI built with Flutter &amp; Dart. Sends HTTP requests: GET, POST, PUT, DELETE.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55851" y="7416519"/>
            <a:ext cx="2844153" cy="11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RESTful API layer bridges the mobile app and backend. Handles routing and request validation.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038877" y="4891910"/>
            <a:ext cx="1811320" cy="802931"/>
            <a:chOff x="0" y="0"/>
            <a:chExt cx="477056" cy="2114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7056" cy="211471"/>
            </a:xfrm>
            <a:custGeom>
              <a:avLst/>
              <a:gdLst/>
              <a:ahLst/>
              <a:cxnLst/>
              <a:rect l="l" t="t" r="r" b="b"/>
              <a:pathLst>
                <a:path w="477056" h="211471">
                  <a:moveTo>
                    <a:pt x="105736" y="0"/>
                  </a:moveTo>
                  <a:lnTo>
                    <a:pt x="371320" y="0"/>
                  </a:lnTo>
                  <a:cubicBezTo>
                    <a:pt x="429716" y="0"/>
                    <a:pt x="477056" y="47340"/>
                    <a:pt x="477056" y="105736"/>
                  </a:cubicBezTo>
                  <a:lnTo>
                    <a:pt x="477056" y="105736"/>
                  </a:lnTo>
                  <a:cubicBezTo>
                    <a:pt x="477056" y="133779"/>
                    <a:pt x="465916" y="160673"/>
                    <a:pt x="446086" y="180502"/>
                  </a:cubicBezTo>
                  <a:cubicBezTo>
                    <a:pt x="426257" y="200331"/>
                    <a:pt x="399363" y="211471"/>
                    <a:pt x="371320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77056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9"/>
                </a:lnSpc>
              </a:pPr>
              <a:r>
                <a:rPr lang="en-US" sz="209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Layer 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72267" y="4891910"/>
            <a:ext cx="1811320" cy="802931"/>
            <a:chOff x="0" y="0"/>
            <a:chExt cx="477056" cy="21147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77056" cy="211471"/>
            </a:xfrm>
            <a:custGeom>
              <a:avLst/>
              <a:gdLst/>
              <a:ahLst/>
              <a:cxnLst/>
              <a:rect l="l" t="t" r="r" b="b"/>
              <a:pathLst>
                <a:path w="477056" h="211471">
                  <a:moveTo>
                    <a:pt x="105736" y="0"/>
                  </a:moveTo>
                  <a:lnTo>
                    <a:pt x="371320" y="0"/>
                  </a:lnTo>
                  <a:cubicBezTo>
                    <a:pt x="429716" y="0"/>
                    <a:pt x="477056" y="47340"/>
                    <a:pt x="477056" y="105736"/>
                  </a:cubicBezTo>
                  <a:lnTo>
                    <a:pt x="477056" y="105736"/>
                  </a:lnTo>
                  <a:cubicBezTo>
                    <a:pt x="477056" y="133779"/>
                    <a:pt x="465916" y="160673"/>
                    <a:pt x="446086" y="180502"/>
                  </a:cubicBezTo>
                  <a:cubicBezTo>
                    <a:pt x="426257" y="200331"/>
                    <a:pt x="399363" y="211471"/>
                    <a:pt x="371320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477056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9"/>
                </a:lnSpc>
              </a:pPr>
              <a:r>
                <a:rPr lang="en-US" sz="209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Layer 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431955" y="4320236"/>
            <a:ext cx="3831674" cy="4938064"/>
            <a:chOff x="0" y="0"/>
            <a:chExt cx="1009165" cy="13005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09165" cy="1300560"/>
            </a:xfrm>
            <a:custGeom>
              <a:avLst/>
              <a:gdLst/>
              <a:ahLst/>
              <a:cxnLst/>
              <a:rect l="l" t="t" r="r" b="b"/>
              <a:pathLst>
                <a:path w="1009165" h="1300560">
                  <a:moveTo>
                    <a:pt x="123251" y="0"/>
                  </a:moveTo>
                  <a:lnTo>
                    <a:pt x="885914" y="0"/>
                  </a:lnTo>
                  <a:cubicBezTo>
                    <a:pt x="953984" y="0"/>
                    <a:pt x="1009165" y="55181"/>
                    <a:pt x="1009165" y="123251"/>
                  </a:cubicBezTo>
                  <a:lnTo>
                    <a:pt x="1009165" y="1177309"/>
                  </a:lnTo>
                  <a:cubicBezTo>
                    <a:pt x="1009165" y="1209997"/>
                    <a:pt x="996180" y="1241347"/>
                    <a:pt x="973066" y="1264461"/>
                  </a:cubicBezTo>
                  <a:cubicBezTo>
                    <a:pt x="949952" y="1287575"/>
                    <a:pt x="918602" y="1300560"/>
                    <a:pt x="885914" y="1300560"/>
                  </a:cubicBezTo>
                  <a:lnTo>
                    <a:pt x="123251" y="1300560"/>
                  </a:lnTo>
                  <a:cubicBezTo>
                    <a:pt x="55181" y="1300560"/>
                    <a:pt x="0" y="1245379"/>
                    <a:pt x="0" y="1177309"/>
                  </a:cubicBezTo>
                  <a:lnTo>
                    <a:pt x="0" y="123251"/>
                  </a:lnTo>
                  <a:cubicBezTo>
                    <a:pt x="0" y="55181"/>
                    <a:pt x="55181" y="0"/>
                    <a:pt x="123251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009165" cy="1348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305658" y="4891910"/>
            <a:ext cx="1811320" cy="802931"/>
            <a:chOff x="0" y="0"/>
            <a:chExt cx="477056" cy="21147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7056" cy="211471"/>
            </a:xfrm>
            <a:custGeom>
              <a:avLst/>
              <a:gdLst/>
              <a:ahLst/>
              <a:cxnLst/>
              <a:rect l="l" t="t" r="r" b="b"/>
              <a:pathLst>
                <a:path w="477056" h="211471">
                  <a:moveTo>
                    <a:pt x="105736" y="0"/>
                  </a:moveTo>
                  <a:lnTo>
                    <a:pt x="371320" y="0"/>
                  </a:lnTo>
                  <a:cubicBezTo>
                    <a:pt x="429716" y="0"/>
                    <a:pt x="477056" y="47340"/>
                    <a:pt x="477056" y="105736"/>
                  </a:cubicBezTo>
                  <a:lnTo>
                    <a:pt x="477056" y="105736"/>
                  </a:lnTo>
                  <a:cubicBezTo>
                    <a:pt x="477056" y="133779"/>
                    <a:pt x="465916" y="160673"/>
                    <a:pt x="446086" y="180502"/>
                  </a:cubicBezTo>
                  <a:cubicBezTo>
                    <a:pt x="426257" y="200331"/>
                    <a:pt x="399363" y="211471"/>
                    <a:pt x="371320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477056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9"/>
                </a:lnSpc>
              </a:pPr>
              <a:r>
                <a:rPr lang="en-US" sz="209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Layer 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439048" y="4891910"/>
            <a:ext cx="1811320" cy="802931"/>
            <a:chOff x="0" y="0"/>
            <a:chExt cx="477056" cy="21147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77056" cy="211471"/>
            </a:xfrm>
            <a:custGeom>
              <a:avLst/>
              <a:gdLst/>
              <a:ahLst/>
              <a:cxnLst/>
              <a:rect l="l" t="t" r="r" b="b"/>
              <a:pathLst>
                <a:path w="477056" h="211471">
                  <a:moveTo>
                    <a:pt x="105736" y="0"/>
                  </a:moveTo>
                  <a:lnTo>
                    <a:pt x="371320" y="0"/>
                  </a:lnTo>
                  <a:cubicBezTo>
                    <a:pt x="429716" y="0"/>
                    <a:pt x="477056" y="47340"/>
                    <a:pt x="477056" y="105736"/>
                  </a:cubicBezTo>
                  <a:lnTo>
                    <a:pt x="477056" y="105736"/>
                  </a:lnTo>
                  <a:cubicBezTo>
                    <a:pt x="477056" y="133779"/>
                    <a:pt x="465916" y="160673"/>
                    <a:pt x="446086" y="180502"/>
                  </a:cubicBezTo>
                  <a:cubicBezTo>
                    <a:pt x="426257" y="200331"/>
                    <a:pt x="399363" y="211471"/>
                    <a:pt x="371320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477056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9"/>
                </a:lnSpc>
              </a:pPr>
              <a:r>
                <a:rPr lang="en-US" sz="2092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Layer 4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07252" y="6335243"/>
            <a:ext cx="2874571" cy="737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FLUTTER APP</a:t>
            </a:r>
          </a:p>
          <a:p>
            <a:pPr marL="0" lvl="0" indent="0" algn="ctr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(FRONTEND)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40642" y="6313187"/>
            <a:ext cx="2874571" cy="737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REST API</a:t>
            </a:r>
          </a:p>
          <a:p>
            <a:pPr marL="0" lvl="0" indent="0" algn="ctr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(INTERFACE)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89242" y="7394463"/>
            <a:ext cx="2844153" cy="11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Node.js handles server-side logic, processes API requests, and manages business rules.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74033" y="6291131"/>
            <a:ext cx="2874571" cy="737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NODE.JS</a:t>
            </a:r>
          </a:p>
          <a:p>
            <a:pPr marL="0" lvl="0" indent="0" algn="ctr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(BACKEND)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922632" y="7372407"/>
            <a:ext cx="2844153" cy="11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MySQL stores structured data: customers, technicians, services, and service requests.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907423" y="6269075"/>
            <a:ext cx="2874571" cy="737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MYSQL</a:t>
            </a:r>
          </a:p>
          <a:p>
            <a:pPr marL="0" lvl="0" indent="0" algn="ctr">
              <a:lnSpc>
                <a:spcPts val="2929"/>
              </a:lnSpc>
              <a:spcBef>
                <a:spcPct val="0"/>
              </a:spcBef>
            </a:pPr>
            <a:r>
              <a:rPr lang="en-US" sz="209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(DATABASE)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3471095"/>
            <a:ext cx="9910164" cy="10287000"/>
            <a:chOff x="0" y="0"/>
            <a:chExt cx="261008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10084" cy="2709333"/>
            </a:xfrm>
            <a:custGeom>
              <a:avLst/>
              <a:gdLst/>
              <a:ahLst/>
              <a:cxnLst/>
              <a:rect l="l" t="t" r="r" b="b"/>
              <a:pathLst>
                <a:path w="2610084" h="2709333">
                  <a:moveTo>
                    <a:pt x="0" y="0"/>
                  </a:moveTo>
                  <a:lnTo>
                    <a:pt x="2610084" y="0"/>
                  </a:lnTo>
                  <a:lnTo>
                    <a:pt x="261008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1008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157960" y="2098584"/>
            <a:ext cx="10838426" cy="13692331"/>
          </a:xfrm>
          <a:custGeom>
            <a:avLst/>
            <a:gdLst/>
            <a:ahLst/>
            <a:cxnLst/>
            <a:rect l="l" t="t" r="r" b="b"/>
            <a:pathLst>
              <a:path w="10838426" h="13692331">
                <a:moveTo>
                  <a:pt x="0" y="0"/>
                </a:moveTo>
                <a:lnTo>
                  <a:pt x="10838425" y="0"/>
                </a:lnTo>
                <a:lnTo>
                  <a:pt x="10838425" y="13692331"/>
                </a:lnTo>
                <a:lnTo>
                  <a:pt x="0" y="136923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501860"/>
            <a:ext cx="16230600" cy="851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08"/>
              </a:lnSpc>
            </a:pPr>
            <a:r>
              <a:rPr lang="en-US" sz="6863" b="1" spc="-41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AUTHENTICATION &amp; REAL-TIME FEATURES</a:t>
            </a:r>
          </a:p>
        </p:txBody>
      </p:sp>
      <p:sp>
        <p:nvSpPr>
          <p:cNvPr id="7" name="AutoShape 7"/>
          <p:cNvSpPr/>
          <p:nvPr/>
        </p:nvSpPr>
        <p:spPr>
          <a:xfrm>
            <a:off x="0" y="347109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6815951" y="3069630"/>
            <a:ext cx="3831674" cy="802931"/>
            <a:chOff x="0" y="0"/>
            <a:chExt cx="1009165" cy="2114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9165" cy="211471"/>
            </a:xfrm>
            <a:custGeom>
              <a:avLst/>
              <a:gdLst/>
              <a:ahLst/>
              <a:cxnLst/>
              <a:rect l="l" t="t" r="r" b="b"/>
              <a:pathLst>
                <a:path w="1009165" h="211471">
                  <a:moveTo>
                    <a:pt x="105736" y="0"/>
                  </a:moveTo>
                  <a:lnTo>
                    <a:pt x="903429" y="0"/>
                  </a:lnTo>
                  <a:cubicBezTo>
                    <a:pt x="961826" y="0"/>
                    <a:pt x="1009165" y="47340"/>
                    <a:pt x="1009165" y="105736"/>
                  </a:cubicBezTo>
                  <a:lnTo>
                    <a:pt x="1009165" y="105736"/>
                  </a:lnTo>
                  <a:cubicBezTo>
                    <a:pt x="1009165" y="133779"/>
                    <a:pt x="998025" y="160673"/>
                    <a:pt x="978196" y="180502"/>
                  </a:cubicBezTo>
                  <a:cubicBezTo>
                    <a:pt x="958367" y="200331"/>
                    <a:pt x="931472" y="211471"/>
                    <a:pt x="903429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09165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9"/>
                </a:lnSpc>
              </a:pPr>
              <a:r>
                <a:rPr lang="en-US" sz="240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Login to Notification Flow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4320236"/>
            <a:ext cx="3831674" cy="4938064"/>
            <a:chOff x="0" y="0"/>
            <a:chExt cx="1009165" cy="13005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9165" cy="1300560"/>
            </a:xfrm>
            <a:custGeom>
              <a:avLst/>
              <a:gdLst/>
              <a:ahLst/>
              <a:cxnLst/>
              <a:rect l="l" t="t" r="r" b="b"/>
              <a:pathLst>
                <a:path w="1009165" h="1300560">
                  <a:moveTo>
                    <a:pt x="123251" y="0"/>
                  </a:moveTo>
                  <a:lnTo>
                    <a:pt x="885914" y="0"/>
                  </a:lnTo>
                  <a:cubicBezTo>
                    <a:pt x="953984" y="0"/>
                    <a:pt x="1009165" y="55181"/>
                    <a:pt x="1009165" y="123251"/>
                  </a:cubicBezTo>
                  <a:lnTo>
                    <a:pt x="1009165" y="1177309"/>
                  </a:lnTo>
                  <a:cubicBezTo>
                    <a:pt x="1009165" y="1209997"/>
                    <a:pt x="996180" y="1241347"/>
                    <a:pt x="973066" y="1264461"/>
                  </a:cubicBezTo>
                  <a:cubicBezTo>
                    <a:pt x="949952" y="1287575"/>
                    <a:pt x="918602" y="1300560"/>
                    <a:pt x="885914" y="1300560"/>
                  </a:cubicBezTo>
                  <a:lnTo>
                    <a:pt x="123251" y="1300560"/>
                  </a:lnTo>
                  <a:cubicBezTo>
                    <a:pt x="55181" y="1300560"/>
                    <a:pt x="0" y="1245379"/>
                    <a:pt x="0" y="1177309"/>
                  </a:cubicBezTo>
                  <a:lnTo>
                    <a:pt x="0" y="123251"/>
                  </a:lnTo>
                  <a:cubicBezTo>
                    <a:pt x="0" y="55181"/>
                    <a:pt x="55181" y="0"/>
                    <a:pt x="123251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09165" cy="1348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8565" y="4320236"/>
            <a:ext cx="3831674" cy="4938064"/>
            <a:chOff x="0" y="0"/>
            <a:chExt cx="1009165" cy="13005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9165" cy="1300560"/>
            </a:xfrm>
            <a:custGeom>
              <a:avLst/>
              <a:gdLst/>
              <a:ahLst/>
              <a:cxnLst/>
              <a:rect l="l" t="t" r="r" b="b"/>
              <a:pathLst>
                <a:path w="1009165" h="1300560">
                  <a:moveTo>
                    <a:pt x="123251" y="0"/>
                  </a:moveTo>
                  <a:lnTo>
                    <a:pt x="885914" y="0"/>
                  </a:lnTo>
                  <a:cubicBezTo>
                    <a:pt x="953984" y="0"/>
                    <a:pt x="1009165" y="55181"/>
                    <a:pt x="1009165" y="123251"/>
                  </a:cubicBezTo>
                  <a:lnTo>
                    <a:pt x="1009165" y="1177309"/>
                  </a:lnTo>
                  <a:cubicBezTo>
                    <a:pt x="1009165" y="1209997"/>
                    <a:pt x="996180" y="1241347"/>
                    <a:pt x="973066" y="1264461"/>
                  </a:cubicBezTo>
                  <a:cubicBezTo>
                    <a:pt x="949952" y="1287575"/>
                    <a:pt x="918602" y="1300560"/>
                    <a:pt x="885914" y="1300560"/>
                  </a:cubicBezTo>
                  <a:lnTo>
                    <a:pt x="123251" y="1300560"/>
                  </a:lnTo>
                  <a:cubicBezTo>
                    <a:pt x="55181" y="1300560"/>
                    <a:pt x="0" y="1245379"/>
                    <a:pt x="0" y="1177309"/>
                  </a:cubicBezTo>
                  <a:lnTo>
                    <a:pt x="0" y="123251"/>
                  </a:lnTo>
                  <a:cubicBezTo>
                    <a:pt x="0" y="55181"/>
                    <a:pt x="55181" y="0"/>
                    <a:pt x="123251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009165" cy="1348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162090" y="4320236"/>
            <a:ext cx="3831674" cy="4938064"/>
            <a:chOff x="0" y="0"/>
            <a:chExt cx="1009165" cy="13005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09165" cy="1300560"/>
            </a:xfrm>
            <a:custGeom>
              <a:avLst/>
              <a:gdLst/>
              <a:ahLst/>
              <a:cxnLst/>
              <a:rect l="l" t="t" r="r" b="b"/>
              <a:pathLst>
                <a:path w="1009165" h="1300560">
                  <a:moveTo>
                    <a:pt x="123251" y="0"/>
                  </a:moveTo>
                  <a:lnTo>
                    <a:pt x="885914" y="0"/>
                  </a:lnTo>
                  <a:cubicBezTo>
                    <a:pt x="953984" y="0"/>
                    <a:pt x="1009165" y="55181"/>
                    <a:pt x="1009165" y="123251"/>
                  </a:cubicBezTo>
                  <a:lnTo>
                    <a:pt x="1009165" y="1177309"/>
                  </a:lnTo>
                  <a:cubicBezTo>
                    <a:pt x="1009165" y="1209997"/>
                    <a:pt x="996180" y="1241347"/>
                    <a:pt x="973066" y="1264461"/>
                  </a:cubicBezTo>
                  <a:cubicBezTo>
                    <a:pt x="949952" y="1287575"/>
                    <a:pt x="918602" y="1300560"/>
                    <a:pt x="885914" y="1300560"/>
                  </a:cubicBezTo>
                  <a:lnTo>
                    <a:pt x="123251" y="1300560"/>
                  </a:lnTo>
                  <a:cubicBezTo>
                    <a:pt x="55181" y="1300560"/>
                    <a:pt x="0" y="1245379"/>
                    <a:pt x="0" y="1177309"/>
                  </a:cubicBezTo>
                  <a:lnTo>
                    <a:pt x="0" y="123251"/>
                  </a:lnTo>
                  <a:cubicBezTo>
                    <a:pt x="0" y="55181"/>
                    <a:pt x="55181" y="0"/>
                    <a:pt x="123251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09165" cy="1348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22461" y="7438576"/>
            <a:ext cx="2844153" cy="11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JWT used for secure user authentication. Firebase handles login and real-time sync.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55851" y="7416519"/>
            <a:ext cx="2844153" cy="11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Authenticated users access customer or technician dashboards based on their role.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038877" y="4891910"/>
            <a:ext cx="1811320" cy="802931"/>
            <a:chOff x="0" y="0"/>
            <a:chExt cx="477056" cy="21147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7056" cy="211471"/>
            </a:xfrm>
            <a:custGeom>
              <a:avLst/>
              <a:gdLst/>
              <a:ahLst/>
              <a:cxnLst/>
              <a:rect l="l" t="t" r="r" b="b"/>
              <a:pathLst>
                <a:path w="477056" h="211471">
                  <a:moveTo>
                    <a:pt x="105736" y="0"/>
                  </a:moveTo>
                  <a:lnTo>
                    <a:pt x="371320" y="0"/>
                  </a:lnTo>
                  <a:cubicBezTo>
                    <a:pt x="429716" y="0"/>
                    <a:pt x="477056" y="47340"/>
                    <a:pt x="477056" y="105736"/>
                  </a:cubicBezTo>
                  <a:lnTo>
                    <a:pt x="477056" y="105736"/>
                  </a:lnTo>
                  <a:cubicBezTo>
                    <a:pt x="477056" y="133779"/>
                    <a:pt x="465916" y="160673"/>
                    <a:pt x="446086" y="180502"/>
                  </a:cubicBezTo>
                  <a:cubicBezTo>
                    <a:pt x="426257" y="200331"/>
                    <a:pt x="399363" y="211471"/>
                    <a:pt x="371320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77056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9"/>
                </a:lnSpc>
              </a:pPr>
              <a:r>
                <a:rPr lang="en-US" sz="240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Step 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172267" y="4891910"/>
            <a:ext cx="1811320" cy="802931"/>
            <a:chOff x="0" y="0"/>
            <a:chExt cx="477056" cy="21147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77056" cy="211471"/>
            </a:xfrm>
            <a:custGeom>
              <a:avLst/>
              <a:gdLst/>
              <a:ahLst/>
              <a:cxnLst/>
              <a:rect l="l" t="t" r="r" b="b"/>
              <a:pathLst>
                <a:path w="477056" h="211471">
                  <a:moveTo>
                    <a:pt x="105736" y="0"/>
                  </a:moveTo>
                  <a:lnTo>
                    <a:pt x="371320" y="0"/>
                  </a:lnTo>
                  <a:cubicBezTo>
                    <a:pt x="429716" y="0"/>
                    <a:pt x="477056" y="47340"/>
                    <a:pt x="477056" y="105736"/>
                  </a:cubicBezTo>
                  <a:lnTo>
                    <a:pt x="477056" y="105736"/>
                  </a:lnTo>
                  <a:cubicBezTo>
                    <a:pt x="477056" y="133779"/>
                    <a:pt x="465916" y="160673"/>
                    <a:pt x="446086" y="180502"/>
                  </a:cubicBezTo>
                  <a:cubicBezTo>
                    <a:pt x="426257" y="200331"/>
                    <a:pt x="399363" y="211471"/>
                    <a:pt x="371320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477056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9"/>
                </a:lnSpc>
              </a:pPr>
              <a:r>
                <a:rPr lang="en-US" sz="240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Step 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431955" y="4320236"/>
            <a:ext cx="3831674" cy="4938064"/>
            <a:chOff x="0" y="0"/>
            <a:chExt cx="1009165" cy="130056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09165" cy="1300560"/>
            </a:xfrm>
            <a:custGeom>
              <a:avLst/>
              <a:gdLst/>
              <a:ahLst/>
              <a:cxnLst/>
              <a:rect l="l" t="t" r="r" b="b"/>
              <a:pathLst>
                <a:path w="1009165" h="1300560">
                  <a:moveTo>
                    <a:pt x="123251" y="0"/>
                  </a:moveTo>
                  <a:lnTo>
                    <a:pt x="885914" y="0"/>
                  </a:lnTo>
                  <a:cubicBezTo>
                    <a:pt x="953984" y="0"/>
                    <a:pt x="1009165" y="55181"/>
                    <a:pt x="1009165" y="123251"/>
                  </a:cubicBezTo>
                  <a:lnTo>
                    <a:pt x="1009165" y="1177309"/>
                  </a:lnTo>
                  <a:cubicBezTo>
                    <a:pt x="1009165" y="1209997"/>
                    <a:pt x="996180" y="1241347"/>
                    <a:pt x="973066" y="1264461"/>
                  </a:cubicBezTo>
                  <a:cubicBezTo>
                    <a:pt x="949952" y="1287575"/>
                    <a:pt x="918602" y="1300560"/>
                    <a:pt x="885914" y="1300560"/>
                  </a:cubicBezTo>
                  <a:lnTo>
                    <a:pt x="123251" y="1300560"/>
                  </a:lnTo>
                  <a:cubicBezTo>
                    <a:pt x="55181" y="1300560"/>
                    <a:pt x="0" y="1245379"/>
                    <a:pt x="0" y="1177309"/>
                  </a:cubicBezTo>
                  <a:lnTo>
                    <a:pt x="0" y="123251"/>
                  </a:lnTo>
                  <a:cubicBezTo>
                    <a:pt x="0" y="55181"/>
                    <a:pt x="55181" y="0"/>
                    <a:pt x="123251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009165" cy="13481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305658" y="4891910"/>
            <a:ext cx="1811320" cy="802931"/>
            <a:chOff x="0" y="0"/>
            <a:chExt cx="477056" cy="21147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77056" cy="211471"/>
            </a:xfrm>
            <a:custGeom>
              <a:avLst/>
              <a:gdLst/>
              <a:ahLst/>
              <a:cxnLst/>
              <a:rect l="l" t="t" r="r" b="b"/>
              <a:pathLst>
                <a:path w="477056" h="211471">
                  <a:moveTo>
                    <a:pt x="105736" y="0"/>
                  </a:moveTo>
                  <a:lnTo>
                    <a:pt x="371320" y="0"/>
                  </a:lnTo>
                  <a:cubicBezTo>
                    <a:pt x="429716" y="0"/>
                    <a:pt x="477056" y="47340"/>
                    <a:pt x="477056" y="105736"/>
                  </a:cubicBezTo>
                  <a:lnTo>
                    <a:pt x="477056" y="105736"/>
                  </a:lnTo>
                  <a:cubicBezTo>
                    <a:pt x="477056" y="133779"/>
                    <a:pt x="465916" y="160673"/>
                    <a:pt x="446086" y="180502"/>
                  </a:cubicBezTo>
                  <a:cubicBezTo>
                    <a:pt x="426257" y="200331"/>
                    <a:pt x="399363" y="211471"/>
                    <a:pt x="371320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477056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9"/>
                </a:lnSpc>
              </a:pPr>
              <a:r>
                <a:rPr lang="en-US" sz="240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Step 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439048" y="4891910"/>
            <a:ext cx="1811320" cy="802931"/>
            <a:chOff x="0" y="0"/>
            <a:chExt cx="477056" cy="21147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77056" cy="211471"/>
            </a:xfrm>
            <a:custGeom>
              <a:avLst/>
              <a:gdLst/>
              <a:ahLst/>
              <a:cxnLst/>
              <a:rect l="l" t="t" r="r" b="b"/>
              <a:pathLst>
                <a:path w="477056" h="211471">
                  <a:moveTo>
                    <a:pt x="105736" y="0"/>
                  </a:moveTo>
                  <a:lnTo>
                    <a:pt x="371320" y="0"/>
                  </a:lnTo>
                  <a:cubicBezTo>
                    <a:pt x="429716" y="0"/>
                    <a:pt x="477056" y="47340"/>
                    <a:pt x="477056" y="105736"/>
                  </a:cubicBezTo>
                  <a:lnTo>
                    <a:pt x="477056" y="105736"/>
                  </a:lnTo>
                  <a:cubicBezTo>
                    <a:pt x="477056" y="133779"/>
                    <a:pt x="465916" y="160673"/>
                    <a:pt x="446086" y="180502"/>
                  </a:cubicBezTo>
                  <a:cubicBezTo>
                    <a:pt x="426257" y="200331"/>
                    <a:pt x="399363" y="211471"/>
                    <a:pt x="371320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477056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9"/>
                </a:lnSpc>
              </a:pPr>
              <a:r>
                <a:rPr lang="en-US" sz="240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Step 4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507252" y="6335243"/>
            <a:ext cx="2874571" cy="82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9"/>
              </a:lnSpc>
              <a:spcBef>
                <a:spcPct val="0"/>
              </a:spcBef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LOGIN &amp; AUTHENTICATION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640642" y="6313187"/>
            <a:ext cx="2874571" cy="405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9"/>
              </a:lnSpc>
              <a:spcBef>
                <a:spcPct val="0"/>
              </a:spcBef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USER ACCESS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89242" y="7394463"/>
            <a:ext cx="2844153" cy="88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Real-time status updates on service requests synced via Firebase instantly.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74033" y="6291131"/>
            <a:ext cx="2874571" cy="82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9"/>
              </a:lnSpc>
              <a:spcBef>
                <a:spcPct val="0"/>
              </a:spcBef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SERVICE REQUEST UPDATES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922632" y="7372407"/>
            <a:ext cx="2844153" cy="117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Firebase Cloud Messaging (FCM) sends push notifications for request updates.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907423" y="6269075"/>
            <a:ext cx="2874571" cy="82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69"/>
              </a:lnSpc>
              <a:spcBef>
                <a:spcPct val="0"/>
              </a:spcBef>
            </a:pPr>
            <a:r>
              <a:rPr lang="en-US" sz="240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PUSH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3765" y="0"/>
            <a:ext cx="9910164" cy="10287000"/>
            <a:chOff x="0" y="0"/>
            <a:chExt cx="261008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10084" cy="2709333"/>
            </a:xfrm>
            <a:custGeom>
              <a:avLst/>
              <a:gdLst/>
              <a:ahLst/>
              <a:cxnLst/>
              <a:rect l="l" t="t" r="r" b="b"/>
              <a:pathLst>
                <a:path w="2610084" h="2709333">
                  <a:moveTo>
                    <a:pt x="0" y="0"/>
                  </a:moveTo>
                  <a:lnTo>
                    <a:pt x="2610084" y="0"/>
                  </a:lnTo>
                  <a:lnTo>
                    <a:pt x="261008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1008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398775" y="-699945"/>
            <a:ext cx="12026345" cy="12026345"/>
          </a:xfrm>
          <a:custGeom>
            <a:avLst/>
            <a:gdLst/>
            <a:ahLst/>
            <a:cxnLst/>
            <a:rect l="l" t="t" r="r" b="b"/>
            <a:pathLst>
              <a:path w="12026345" h="12026345">
                <a:moveTo>
                  <a:pt x="0" y="0"/>
                </a:moveTo>
                <a:lnTo>
                  <a:pt x="12026345" y="0"/>
                </a:lnTo>
                <a:lnTo>
                  <a:pt x="12026345" y="12026346"/>
                </a:lnTo>
                <a:lnTo>
                  <a:pt x="0" y="12026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76669" y="4594891"/>
            <a:ext cx="5666276" cy="802931"/>
            <a:chOff x="0" y="0"/>
            <a:chExt cx="1492352" cy="2114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92353" cy="211471"/>
            </a:xfrm>
            <a:custGeom>
              <a:avLst/>
              <a:gdLst/>
              <a:ahLst/>
              <a:cxnLst/>
              <a:rect l="l" t="t" r="r" b="b"/>
              <a:pathLst>
                <a:path w="1492353" h="211471">
                  <a:moveTo>
                    <a:pt x="105736" y="0"/>
                  </a:moveTo>
                  <a:lnTo>
                    <a:pt x="1386617" y="0"/>
                  </a:lnTo>
                  <a:cubicBezTo>
                    <a:pt x="1445013" y="0"/>
                    <a:pt x="1492353" y="47340"/>
                    <a:pt x="1492353" y="105736"/>
                  </a:cubicBezTo>
                  <a:lnTo>
                    <a:pt x="1492353" y="105736"/>
                  </a:lnTo>
                  <a:cubicBezTo>
                    <a:pt x="1492353" y="133779"/>
                    <a:pt x="1481212" y="160673"/>
                    <a:pt x="1461383" y="180502"/>
                  </a:cubicBezTo>
                  <a:cubicBezTo>
                    <a:pt x="1441554" y="200331"/>
                    <a:pt x="1414660" y="211471"/>
                    <a:pt x="1386617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92352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Frontend &amp; Backend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46936" y="4821743"/>
            <a:ext cx="7403821" cy="4416142"/>
            <a:chOff x="0" y="0"/>
            <a:chExt cx="1949978" cy="11630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9977" cy="1163099"/>
            </a:xfrm>
            <a:custGeom>
              <a:avLst/>
              <a:gdLst/>
              <a:ahLst/>
              <a:cxnLst/>
              <a:rect l="l" t="t" r="r" b="b"/>
              <a:pathLst>
                <a:path w="1949977" h="1163099">
                  <a:moveTo>
                    <a:pt x="99338" y="0"/>
                  </a:moveTo>
                  <a:lnTo>
                    <a:pt x="1850639" y="0"/>
                  </a:lnTo>
                  <a:cubicBezTo>
                    <a:pt x="1905502" y="0"/>
                    <a:pt x="1949977" y="44475"/>
                    <a:pt x="1949977" y="99338"/>
                  </a:cubicBezTo>
                  <a:lnTo>
                    <a:pt x="1949977" y="1063761"/>
                  </a:lnTo>
                  <a:cubicBezTo>
                    <a:pt x="1949977" y="1090107"/>
                    <a:pt x="1939511" y="1115374"/>
                    <a:pt x="1920882" y="1134004"/>
                  </a:cubicBezTo>
                  <a:cubicBezTo>
                    <a:pt x="1902252" y="1152633"/>
                    <a:pt x="1876985" y="1163099"/>
                    <a:pt x="1850639" y="1163099"/>
                  </a:cubicBezTo>
                  <a:lnTo>
                    <a:pt x="99338" y="1163099"/>
                  </a:lnTo>
                  <a:cubicBezTo>
                    <a:pt x="72992" y="1163099"/>
                    <a:pt x="47725" y="1152633"/>
                    <a:pt x="29095" y="1134004"/>
                  </a:cubicBezTo>
                  <a:cubicBezTo>
                    <a:pt x="10466" y="1115374"/>
                    <a:pt x="0" y="1090107"/>
                    <a:pt x="0" y="1063761"/>
                  </a:cubicBezTo>
                  <a:lnTo>
                    <a:pt x="0" y="99338"/>
                  </a:lnTo>
                  <a:cubicBezTo>
                    <a:pt x="0" y="72992"/>
                    <a:pt x="10466" y="47725"/>
                    <a:pt x="29095" y="29095"/>
                  </a:cubicBezTo>
                  <a:cubicBezTo>
                    <a:pt x="47725" y="10466"/>
                    <a:pt x="72992" y="0"/>
                    <a:pt x="99338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949978" cy="1201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55550" y="3791960"/>
            <a:ext cx="5032439" cy="802931"/>
            <a:chOff x="0" y="0"/>
            <a:chExt cx="1325416" cy="2114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25416" cy="211471"/>
            </a:xfrm>
            <a:custGeom>
              <a:avLst/>
              <a:gdLst/>
              <a:ahLst/>
              <a:cxnLst/>
              <a:rect l="l" t="t" r="r" b="b"/>
              <a:pathLst>
                <a:path w="1325416" h="211471">
                  <a:moveTo>
                    <a:pt x="105736" y="0"/>
                  </a:moveTo>
                  <a:lnTo>
                    <a:pt x="1219680" y="0"/>
                  </a:lnTo>
                  <a:cubicBezTo>
                    <a:pt x="1278077" y="0"/>
                    <a:pt x="1325416" y="47340"/>
                    <a:pt x="1325416" y="105736"/>
                  </a:cubicBezTo>
                  <a:lnTo>
                    <a:pt x="1325416" y="105736"/>
                  </a:lnTo>
                  <a:cubicBezTo>
                    <a:pt x="1325416" y="164132"/>
                    <a:pt x="1278077" y="211471"/>
                    <a:pt x="1219680" y="211471"/>
                  </a:cubicBezTo>
                  <a:lnTo>
                    <a:pt x="105736" y="211471"/>
                  </a:lnTo>
                  <a:cubicBezTo>
                    <a:pt x="47340" y="211471"/>
                    <a:pt x="0" y="164132"/>
                    <a:pt x="0" y="105736"/>
                  </a:cubicBezTo>
                  <a:lnTo>
                    <a:pt x="0" y="105736"/>
                  </a:lnTo>
                  <a:cubicBezTo>
                    <a:pt x="0" y="47340"/>
                    <a:pt x="47340" y="0"/>
                    <a:pt x="105736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325416" cy="259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Database &amp; API &amp; Auth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1559010"/>
            <a:ext cx="6997787" cy="205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6"/>
              </a:lnSpc>
            </a:pPr>
            <a:r>
              <a:rPr lang="en-US" sz="8625" b="1" spc="-517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TECHNOLOGY STACK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4319" y="5781941"/>
            <a:ext cx="10073308" cy="240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18"/>
              </a:lnSpc>
              <a:spcBef>
                <a:spcPct val="0"/>
              </a:spcBef>
            </a:pPr>
            <a:r>
              <a:rPr lang="en-US" sz="17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</a:p>
          <a:p>
            <a:pPr marL="0" lvl="0" indent="0" algn="just">
              <a:lnSpc>
                <a:spcPts val="2418"/>
              </a:lnSpc>
              <a:spcBef>
                <a:spcPct val="0"/>
              </a:spcBef>
            </a:pPr>
            <a:r>
              <a:rPr lang="en-US" sz="17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Flutter (Dart) – Cross-platform mobile app</a:t>
            </a:r>
          </a:p>
          <a:p>
            <a:pPr marL="0" lvl="0" indent="0" algn="just">
              <a:lnSpc>
                <a:spcPts val="2418"/>
              </a:lnSpc>
              <a:spcBef>
                <a:spcPct val="0"/>
              </a:spcBef>
            </a:pPr>
            <a:r>
              <a:rPr lang="en-US" sz="17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</a:p>
          <a:p>
            <a:pPr marL="0" lvl="0" indent="0" algn="just">
              <a:lnSpc>
                <a:spcPts val="2418"/>
              </a:lnSpc>
              <a:spcBef>
                <a:spcPct val="0"/>
              </a:spcBef>
            </a:pPr>
            <a:r>
              <a:rPr lang="en-US" sz="17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Node.js – Server-side JavaScript runtime</a:t>
            </a:r>
          </a:p>
          <a:p>
            <a:pPr marL="0" lvl="0" indent="0" algn="just">
              <a:lnSpc>
                <a:spcPts val="2418"/>
              </a:lnSpc>
              <a:spcBef>
                <a:spcPct val="0"/>
              </a:spcBef>
            </a:pPr>
            <a:r>
              <a:rPr lang="en-US" sz="17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STATE MANAGEMENT:</a:t>
            </a:r>
          </a:p>
          <a:p>
            <a:pPr marL="0" lvl="0" indent="0" algn="just">
              <a:lnSpc>
                <a:spcPts val="2418"/>
              </a:lnSpc>
              <a:spcBef>
                <a:spcPct val="0"/>
              </a:spcBef>
            </a:pPr>
            <a:r>
              <a:rPr lang="en-US" sz="17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Provider / Riverpod – Flutter state management</a:t>
            </a:r>
          </a:p>
          <a:p>
            <a:pPr marL="0" lvl="0" indent="0" algn="just">
              <a:lnSpc>
                <a:spcPts val="2418"/>
              </a:lnSpc>
              <a:spcBef>
                <a:spcPct val="0"/>
              </a:spcBef>
            </a:pPr>
            <a:r>
              <a:rPr lang="en-US" sz="17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PLATFORMS:</a:t>
            </a:r>
          </a:p>
          <a:p>
            <a:pPr marL="0" lvl="0" indent="0" algn="just">
              <a:lnSpc>
                <a:spcPts val="2418"/>
              </a:lnSpc>
              <a:spcBef>
                <a:spcPct val="0"/>
              </a:spcBef>
            </a:pPr>
            <a:r>
              <a:rPr lang="en-US" sz="172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Android and iOS – Target mobile platforms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97626" y="5047075"/>
            <a:ext cx="5651342" cy="3227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08"/>
              </a:lnSpc>
            </a:pPr>
            <a:r>
              <a:rPr lang="en-US" sz="14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DATABASE:</a:t>
            </a:r>
          </a:p>
          <a:p>
            <a:pPr marL="0" lvl="0" indent="0" algn="ctr">
              <a:lnSpc>
                <a:spcPts val="2908"/>
              </a:lnSpc>
            </a:pPr>
            <a:r>
              <a:rPr lang="en-US" sz="14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MySQL – Structured data storage</a:t>
            </a:r>
          </a:p>
          <a:p>
            <a:pPr marL="0" lvl="0" indent="0" algn="ctr">
              <a:lnSpc>
                <a:spcPts val="2908"/>
              </a:lnSpc>
            </a:pPr>
            <a:r>
              <a:rPr lang="en-US" sz="14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MySQL Workbench – DB design &amp; management</a:t>
            </a:r>
          </a:p>
          <a:p>
            <a:pPr marL="0" lvl="0" indent="0" algn="ctr">
              <a:lnSpc>
                <a:spcPts val="2908"/>
              </a:lnSpc>
            </a:pPr>
            <a:r>
              <a:rPr lang="en-US" sz="14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API:</a:t>
            </a:r>
          </a:p>
          <a:p>
            <a:pPr marL="0" lvl="0" indent="0" algn="ctr">
              <a:lnSpc>
                <a:spcPts val="2908"/>
              </a:lnSpc>
            </a:pPr>
            <a:r>
              <a:rPr lang="en-US" sz="14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REST API – App-to-backend communication</a:t>
            </a:r>
          </a:p>
          <a:p>
            <a:pPr marL="0" lvl="0" indent="0" algn="ctr">
              <a:lnSpc>
                <a:spcPts val="2908"/>
              </a:lnSpc>
            </a:pPr>
            <a:r>
              <a:rPr lang="en-US" sz="14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AUTHENTICATION / REAL-TIME:</a:t>
            </a:r>
          </a:p>
          <a:p>
            <a:pPr marL="0" lvl="0" indent="0" algn="ctr">
              <a:lnSpc>
                <a:spcPts val="2908"/>
              </a:lnSpc>
            </a:pPr>
            <a:r>
              <a:rPr lang="en-US" sz="14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Firebase – Auth and real-time services</a:t>
            </a:r>
          </a:p>
          <a:p>
            <a:pPr marL="0" lvl="0" indent="0" algn="ctr">
              <a:lnSpc>
                <a:spcPts val="2908"/>
              </a:lnSpc>
            </a:pPr>
            <a:r>
              <a:rPr lang="en-US" sz="14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JWT – Secure authentication tokens</a:t>
            </a:r>
          </a:p>
          <a:p>
            <a:pPr marL="0" lvl="0" indent="0" algn="ctr">
              <a:lnSpc>
                <a:spcPts val="2908"/>
              </a:lnSpc>
            </a:pPr>
            <a:r>
              <a:rPr lang="en-US" sz="141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FCM – Push notifications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191719" y="2655378"/>
            <a:ext cx="560101" cy="560101"/>
            <a:chOff x="0" y="0"/>
            <a:chExt cx="746801" cy="746801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5" name="Group 25"/>
          <p:cNvGrpSpPr/>
          <p:nvPr/>
        </p:nvGrpSpPr>
        <p:grpSpPr>
          <a:xfrm>
            <a:off x="13623297" y="9466485"/>
            <a:ext cx="560101" cy="560101"/>
            <a:chOff x="0" y="0"/>
            <a:chExt cx="746801" cy="746801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93765" y="0"/>
            <a:ext cx="9910164" cy="10287000"/>
            <a:chOff x="0" y="0"/>
            <a:chExt cx="2610084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10084" cy="2709333"/>
            </a:xfrm>
            <a:custGeom>
              <a:avLst/>
              <a:gdLst/>
              <a:ahLst/>
              <a:cxnLst/>
              <a:rect l="l" t="t" r="r" b="b"/>
              <a:pathLst>
                <a:path w="2610084" h="2709333">
                  <a:moveTo>
                    <a:pt x="0" y="0"/>
                  </a:moveTo>
                  <a:lnTo>
                    <a:pt x="2610084" y="0"/>
                  </a:lnTo>
                  <a:lnTo>
                    <a:pt x="261008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1008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993765" y="0"/>
            <a:ext cx="10801975" cy="10801975"/>
          </a:xfrm>
          <a:custGeom>
            <a:avLst/>
            <a:gdLst/>
            <a:ahLst/>
            <a:cxnLst/>
            <a:rect l="l" t="t" r="r" b="b"/>
            <a:pathLst>
              <a:path w="10801975" h="10801975">
                <a:moveTo>
                  <a:pt x="0" y="0"/>
                </a:moveTo>
                <a:lnTo>
                  <a:pt x="10801974" y="0"/>
                </a:lnTo>
                <a:lnTo>
                  <a:pt x="10801974" y="10801975"/>
                </a:lnTo>
                <a:lnTo>
                  <a:pt x="0" y="10801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1530435"/>
            <a:ext cx="16230600" cy="901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91"/>
              </a:lnSpc>
            </a:pPr>
            <a:r>
              <a:rPr lang="en-US" sz="7405" b="1" spc="-444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EXPECTED BENEFITS &amp; FUTURE SCOPE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1588" y="5839854"/>
            <a:ext cx="12474760" cy="259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96"/>
              </a:lnSpc>
              <a:spcBef>
                <a:spcPct val="0"/>
              </a:spcBef>
            </a:pPr>
            <a:r>
              <a:rPr lang="en-US" sz="21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Expected Benefits</a:t>
            </a:r>
          </a:p>
          <a:p>
            <a:pPr marL="0" lvl="0" indent="0" algn="just">
              <a:lnSpc>
                <a:spcPts val="2996"/>
              </a:lnSpc>
              <a:spcBef>
                <a:spcPct val="0"/>
              </a:spcBef>
            </a:pPr>
            <a:r>
              <a:rPr lang="en-US" sz="21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Easy service requests for customers</a:t>
            </a:r>
          </a:p>
          <a:p>
            <a:pPr marL="0" lvl="0" indent="0" algn="just">
              <a:lnSpc>
                <a:spcPts val="2996"/>
              </a:lnSpc>
              <a:spcBef>
                <a:spcPct val="0"/>
              </a:spcBef>
            </a:pPr>
            <a:r>
              <a:rPr lang="en-US" sz="21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Better customer-technician communication</a:t>
            </a:r>
          </a:p>
          <a:p>
            <a:pPr marL="0" lvl="0" indent="0" algn="just">
              <a:lnSpc>
                <a:spcPts val="2996"/>
              </a:lnSpc>
              <a:spcBef>
                <a:spcPct val="0"/>
              </a:spcBef>
            </a:pPr>
            <a:r>
              <a:rPr lang="en-US" sz="21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Simple and transparent request tracking</a:t>
            </a:r>
          </a:p>
          <a:p>
            <a:pPr marL="0" lvl="0" indent="0" algn="just">
              <a:lnSpc>
                <a:spcPts val="2996"/>
              </a:lnSpc>
              <a:spcBef>
                <a:spcPct val="0"/>
              </a:spcBef>
            </a:pPr>
            <a:r>
              <a:rPr lang="en-US" sz="21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Organized service management</a:t>
            </a:r>
          </a:p>
          <a:p>
            <a:pPr marL="0" lvl="0" indent="0" algn="just">
              <a:lnSpc>
                <a:spcPts val="2996"/>
              </a:lnSpc>
              <a:spcBef>
                <a:spcPct val="0"/>
              </a:spcBef>
            </a:pPr>
            <a:r>
              <a:rPr lang="en-US" sz="21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Faster status updates</a:t>
            </a:r>
          </a:p>
          <a:p>
            <a:pPr marL="0" lvl="0" indent="0" algn="just">
              <a:lnSpc>
                <a:spcPts val="2996"/>
              </a:lnSpc>
              <a:spcBef>
                <a:spcPct val="0"/>
              </a:spcBef>
            </a:pPr>
            <a:r>
              <a:rPr lang="en-US" sz="214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Convenient user experience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93765" y="5820804"/>
            <a:ext cx="15095049" cy="2703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25"/>
              </a:lnSpc>
              <a:spcBef>
                <a:spcPct val="0"/>
              </a:spcBef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Future Scope</a:t>
            </a:r>
          </a:p>
          <a:p>
            <a:pPr marL="0" lvl="0" indent="0" algn="just">
              <a:lnSpc>
                <a:spcPts val="3625"/>
              </a:lnSpc>
              <a:spcBef>
                <a:spcPct val="0"/>
              </a:spcBef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Online payment integration</a:t>
            </a:r>
          </a:p>
          <a:p>
            <a:pPr marL="0" lvl="0" indent="0" algn="just">
              <a:lnSpc>
                <a:spcPts val="3625"/>
              </a:lnSpc>
              <a:spcBef>
                <a:spcPct val="0"/>
              </a:spcBef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GPS-based technician tracking</a:t>
            </a:r>
          </a:p>
          <a:p>
            <a:pPr marL="0" lvl="0" indent="0" algn="just">
              <a:lnSpc>
                <a:spcPts val="3625"/>
              </a:lnSpc>
              <a:spcBef>
                <a:spcPct val="0"/>
              </a:spcBef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In-app communication features</a:t>
            </a:r>
          </a:p>
          <a:p>
            <a:pPr marL="0" lvl="0" indent="0" algn="just">
              <a:lnSpc>
                <a:spcPts val="3625"/>
              </a:lnSpc>
              <a:spcBef>
                <a:spcPct val="0"/>
              </a:spcBef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Advanced analytics dashboard</a:t>
            </a:r>
          </a:p>
          <a:p>
            <a:pPr marL="0" lvl="0" indent="0" algn="just">
              <a:lnSpc>
                <a:spcPts val="3625"/>
              </a:lnSpc>
              <a:spcBef>
                <a:spcPct val="0"/>
              </a:spcBef>
            </a:pPr>
            <a:r>
              <a:rPr lang="en-US" sz="258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 AI-based service recommendations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514350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6665715" y="4598771"/>
            <a:ext cx="4656099" cy="1089457"/>
            <a:chOff x="0" y="0"/>
            <a:chExt cx="1226298" cy="2869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26298" cy="286935"/>
            </a:xfrm>
            <a:custGeom>
              <a:avLst/>
              <a:gdLst/>
              <a:ahLst/>
              <a:cxnLst/>
              <a:rect l="l" t="t" r="r" b="b"/>
              <a:pathLst>
                <a:path w="1226298" h="286935">
                  <a:moveTo>
                    <a:pt x="143468" y="0"/>
                  </a:moveTo>
                  <a:lnTo>
                    <a:pt x="1082830" y="0"/>
                  </a:lnTo>
                  <a:cubicBezTo>
                    <a:pt x="1120880" y="0"/>
                    <a:pt x="1157372" y="15115"/>
                    <a:pt x="1184277" y="42021"/>
                  </a:cubicBezTo>
                  <a:cubicBezTo>
                    <a:pt x="1211182" y="68926"/>
                    <a:pt x="1226298" y="105418"/>
                    <a:pt x="1226298" y="143468"/>
                  </a:cubicBezTo>
                  <a:lnTo>
                    <a:pt x="1226298" y="143468"/>
                  </a:lnTo>
                  <a:cubicBezTo>
                    <a:pt x="1226298" y="181518"/>
                    <a:pt x="1211182" y="218009"/>
                    <a:pt x="1184277" y="244915"/>
                  </a:cubicBezTo>
                  <a:cubicBezTo>
                    <a:pt x="1157372" y="271820"/>
                    <a:pt x="1120880" y="286935"/>
                    <a:pt x="1082830" y="286935"/>
                  </a:cubicBezTo>
                  <a:lnTo>
                    <a:pt x="143468" y="286935"/>
                  </a:lnTo>
                  <a:cubicBezTo>
                    <a:pt x="105418" y="286935"/>
                    <a:pt x="68926" y="271820"/>
                    <a:pt x="42021" y="244915"/>
                  </a:cubicBezTo>
                  <a:cubicBezTo>
                    <a:pt x="15115" y="218009"/>
                    <a:pt x="0" y="181518"/>
                    <a:pt x="0" y="143468"/>
                  </a:cubicBezTo>
                  <a:lnTo>
                    <a:pt x="0" y="143468"/>
                  </a:lnTo>
                  <a:cubicBezTo>
                    <a:pt x="0" y="105418"/>
                    <a:pt x="15115" y="68926"/>
                    <a:pt x="42021" y="42021"/>
                  </a:cubicBezTo>
                  <a:cubicBezTo>
                    <a:pt x="68926" y="15115"/>
                    <a:pt x="105418" y="0"/>
                    <a:pt x="143468" y="0"/>
                  </a:cubicBezTo>
                  <a:close/>
                </a:path>
              </a:pathLst>
            </a:custGeom>
            <a:solidFill>
              <a:srgbClr val="1C1C1C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26298" cy="334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r>
                <a:rPr lang="en-US" sz="24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What This Application Delivers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63664" y="0"/>
            <a:ext cx="6724336" cy="10287000"/>
            <a:chOff x="0" y="0"/>
            <a:chExt cx="177101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71019" cy="2709333"/>
            </a:xfrm>
            <a:custGeom>
              <a:avLst/>
              <a:gdLst/>
              <a:ahLst/>
              <a:cxnLst/>
              <a:rect l="l" t="t" r="r" b="b"/>
              <a:pathLst>
                <a:path w="1771019" h="2709333">
                  <a:moveTo>
                    <a:pt x="0" y="0"/>
                  </a:moveTo>
                  <a:lnTo>
                    <a:pt x="1771019" y="0"/>
                  </a:lnTo>
                  <a:lnTo>
                    <a:pt x="177101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7101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563664" y="-550307"/>
            <a:ext cx="10801975" cy="10801975"/>
          </a:xfrm>
          <a:custGeom>
            <a:avLst/>
            <a:gdLst/>
            <a:ahLst/>
            <a:cxnLst/>
            <a:rect l="l" t="t" r="r" b="b"/>
            <a:pathLst>
              <a:path w="10801975" h="10801975">
                <a:moveTo>
                  <a:pt x="0" y="0"/>
                </a:moveTo>
                <a:lnTo>
                  <a:pt x="10801974" y="0"/>
                </a:lnTo>
                <a:lnTo>
                  <a:pt x="10801974" y="10801975"/>
                </a:lnTo>
                <a:lnTo>
                  <a:pt x="0" y="10801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27799" y="5189593"/>
            <a:ext cx="7508066" cy="406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5311"/>
              </a:lnSpc>
            </a:pPr>
            <a:r>
              <a:rPr lang="en-US" sz="17204" b="1" spc="-103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THANK</a:t>
            </a:r>
          </a:p>
          <a:p>
            <a:pPr marL="0" lvl="0" indent="0" algn="l">
              <a:lnSpc>
                <a:spcPts val="15311"/>
              </a:lnSpc>
            </a:pPr>
            <a:r>
              <a:rPr lang="en-US" sz="17204" b="1" spc="-1032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YOU!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027799" y="1028700"/>
            <a:ext cx="560101" cy="560101"/>
            <a:chOff x="0" y="0"/>
            <a:chExt cx="231131" cy="2311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1131" cy="231131"/>
            </a:xfrm>
            <a:custGeom>
              <a:avLst/>
              <a:gdLst/>
              <a:ahLst/>
              <a:cxnLst/>
              <a:rect l="l" t="t" r="r" b="b"/>
              <a:pathLst>
                <a:path w="231131" h="231131">
                  <a:moveTo>
                    <a:pt x="115566" y="0"/>
                  </a:moveTo>
                  <a:lnTo>
                    <a:pt x="115566" y="0"/>
                  </a:lnTo>
                  <a:cubicBezTo>
                    <a:pt x="146215" y="0"/>
                    <a:pt x="175610" y="12176"/>
                    <a:pt x="197283" y="33848"/>
                  </a:cubicBezTo>
                  <a:cubicBezTo>
                    <a:pt x="218955" y="55521"/>
                    <a:pt x="231131" y="84916"/>
                    <a:pt x="231131" y="115566"/>
                  </a:cubicBezTo>
                  <a:lnTo>
                    <a:pt x="231131" y="115566"/>
                  </a:lnTo>
                  <a:cubicBezTo>
                    <a:pt x="231131" y="179391"/>
                    <a:pt x="179391" y="231131"/>
                    <a:pt x="115566" y="231131"/>
                  </a:cubicBezTo>
                  <a:lnTo>
                    <a:pt x="115566" y="231131"/>
                  </a:lnTo>
                  <a:cubicBezTo>
                    <a:pt x="51740" y="231131"/>
                    <a:pt x="0" y="179391"/>
                    <a:pt x="0" y="115566"/>
                  </a:cubicBezTo>
                  <a:lnTo>
                    <a:pt x="0" y="115566"/>
                  </a:lnTo>
                  <a:cubicBezTo>
                    <a:pt x="0" y="51740"/>
                    <a:pt x="51740" y="0"/>
                    <a:pt x="1155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31131" cy="269231"/>
            </a:xfrm>
            <a:prstGeom prst="rect">
              <a:avLst/>
            </a:prstGeom>
          </p:spPr>
          <p:txBody>
            <a:bodyPr lIns="32422" tIns="32422" rIns="32422" bIns="32422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2122327" y="1123228"/>
            <a:ext cx="371046" cy="371046"/>
          </a:xfrm>
          <a:custGeom>
            <a:avLst/>
            <a:gdLst/>
            <a:ahLst/>
            <a:cxnLst/>
            <a:rect l="l" t="t" r="r" b="b"/>
            <a:pathLst>
              <a:path w="371046" h="371046">
                <a:moveTo>
                  <a:pt x="0" y="0"/>
                </a:moveTo>
                <a:lnTo>
                  <a:pt x="371045" y="0"/>
                </a:lnTo>
                <a:lnTo>
                  <a:pt x="371045" y="371045"/>
                </a:lnTo>
                <a:lnTo>
                  <a:pt x="0" y="3710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752565" y="1208294"/>
            <a:ext cx="2204782" cy="515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56"/>
              </a:lnSpc>
            </a:pPr>
            <a:r>
              <a:rPr lang="en-US" sz="2198" spc="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Service Request App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379281" y="1075964"/>
            <a:ext cx="2796456" cy="671518"/>
            <a:chOff x="0" y="0"/>
            <a:chExt cx="3728608" cy="895358"/>
          </a:xfrm>
        </p:grpSpPr>
        <p:sp>
          <p:nvSpPr>
            <p:cNvPr id="13" name="TextBox 13"/>
            <p:cNvSpPr txBox="1"/>
            <p:nvPr/>
          </p:nvSpPr>
          <p:spPr>
            <a:xfrm>
              <a:off x="955481" y="82232"/>
              <a:ext cx="2773127" cy="813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512"/>
                </a:lnSpc>
              </a:pPr>
              <a:r>
                <a:rPr lang="en-US" sz="1699" spc="-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Smarter Service Requests. Better Home Services.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13379281" y="8698199"/>
            <a:ext cx="3093101" cy="560101"/>
            <a:chOff x="0" y="0"/>
            <a:chExt cx="4124135" cy="746801"/>
          </a:xfrm>
        </p:grpSpPr>
        <p:sp>
          <p:nvSpPr>
            <p:cNvPr id="21" name="TextBox 21"/>
            <p:cNvSpPr txBox="1"/>
            <p:nvPr/>
          </p:nvSpPr>
          <p:spPr>
            <a:xfrm>
              <a:off x="955481" y="82232"/>
              <a:ext cx="3168654" cy="559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512"/>
                </a:lnSpc>
              </a:pPr>
              <a:r>
                <a:rPr lang="en-US" sz="1699" spc="-56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Simplifying Home Repair, One Request at a Time.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0"/>
              <a:ext cx="746801" cy="746801"/>
              <a:chOff x="0" y="0"/>
              <a:chExt cx="231131" cy="23113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31131" cy="231131"/>
              </a:xfrm>
              <a:custGeom>
                <a:avLst/>
                <a:gdLst/>
                <a:ahLst/>
                <a:cxnLst/>
                <a:rect l="l" t="t" r="r" b="b"/>
                <a:pathLst>
                  <a:path w="231131" h="231131">
                    <a:moveTo>
                      <a:pt x="115566" y="0"/>
                    </a:moveTo>
                    <a:lnTo>
                      <a:pt x="115566" y="0"/>
                    </a:lnTo>
                    <a:cubicBezTo>
                      <a:pt x="146215" y="0"/>
                      <a:pt x="175610" y="12176"/>
                      <a:pt x="197283" y="33848"/>
                    </a:cubicBezTo>
                    <a:cubicBezTo>
                      <a:pt x="218955" y="55521"/>
                      <a:pt x="231131" y="84916"/>
                      <a:pt x="231131" y="115566"/>
                    </a:cubicBezTo>
                    <a:lnTo>
                      <a:pt x="231131" y="115566"/>
                    </a:lnTo>
                    <a:cubicBezTo>
                      <a:pt x="231131" y="179391"/>
                      <a:pt x="179391" y="231131"/>
                      <a:pt x="115566" y="231131"/>
                    </a:cubicBezTo>
                    <a:lnTo>
                      <a:pt x="115566" y="231131"/>
                    </a:lnTo>
                    <a:cubicBezTo>
                      <a:pt x="51740" y="231131"/>
                      <a:pt x="0" y="179391"/>
                      <a:pt x="0" y="115566"/>
                    </a:cubicBezTo>
                    <a:lnTo>
                      <a:pt x="0" y="115566"/>
                    </a:lnTo>
                    <a:cubicBezTo>
                      <a:pt x="0" y="51740"/>
                      <a:pt x="51740" y="0"/>
                      <a:pt x="11556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231131" cy="269231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47218" y="147218"/>
              <a:ext cx="452366" cy="452366"/>
              <a:chOff x="0" y="0"/>
              <a:chExt cx="812800" cy="812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lnTo>
                      <a:pt x="485289" y="111986"/>
                    </a:lnTo>
                    <a:lnTo>
                      <a:pt x="609600" y="54447"/>
                    </a:lnTo>
                    <a:lnTo>
                      <a:pt x="621927" y="190873"/>
                    </a:lnTo>
                    <a:lnTo>
                      <a:pt x="758353" y="203200"/>
                    </a:lnTo>
                    <a:lnTo>
                      <a:pt x="700814" y="327511"/>
                    </a:lnTo>
                    <a:lnTo>
                      <a:pt x="812800" y="406400"/>
                    </a:lnTo>
                    <a:lnTo>
                      <a:pt x="700814" y="485289"/>
                    </a:lnTo>
                    <a:lnTo>
                      <a:pt x="758353" y="609600"/>
                    </a:lnTo>
                    <a:lnTo>
                      <a:pt x="621927" y="621927"/>
                    </a:lnTo>
                    <a:lnTo>
                      <a:pt x="609600" y="758353"/>
                    </a:lnTo>
                    <a:lnTo>
                      <a:pt x="485289" y="700814"/>
                    </a:lnTo>
                    <a:lnTo>
                      <a:pt x="406400" y="812800"/>
                    </a:lnTo>
                    <a:lnTo>
                      <a:pt x="327511" y="700814"/>
                    </a:lnTo>
                    <a:lnTo>
                      <a:pt x="203200" y="758353"/>
                    </a:lnTo>
                    <a:lnTo>
                      <a:pt x="190873" y="621927"/>
                    </a:lnTo>
                    <a:lnTo>
                      <a:pt x="54447" y="609600"/>
                    </a:lnTo>
                    <a:lnTo>
                      <a:pt x="111986" y="485289"/>
                    </a:lnTo>
                    <a:lnTo>
                      <a:pt x="0" y="406400"/>
                    </a:lnTo>
                    <a:lnTo>
                      <a:pt x="111986" y="327511"/>
                    </a:lnTo>
                    <a:lnTo>
                      <a:pt x="54447" y="203200"/>
                    </a:lnTo>
                    <a:lnTo>
                      <a:pt x="190873" y="190873"/>
                    </a:lnTo>
                    <a:lnTo>
                      <a:pt x="203200" y="54447"/>
                    </a:lnTo>
                    <a:lnTo>
                      <a:pt x="327511" y="111986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1C1C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27000" y="88900"/>
                <a:ext cx="558800" cy="596900"/>
              </a:xfrm>
              <a:prstGeom prst="rect">
                <a:avLst/>
              </a:prstGeom>
            </p:spPr>
            <p:txBody>
              <a:bodyPr lIns="32422" tIns="32422" rIns="32422" bIns="32422" rtlCol="0" anchor="ctr"/>
              <a:lstStyle/>
              <a:p>
                <a:pPr marL="0" lvl="0" indent="0" algn="ctr">
                  <a:lnSpc>
                    <a:spcPts val="2659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721</Words>
  <Application>Microsoft Office PowerPoint</Application>
  <PresentationFormat>Custom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Inter Medium</vt:lpstr>
      <vt:lpstr>Calibri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Request App for Home Services: A Simple Platform</dc:title>
  <dc:creator>Rishita</dc:creator>
  <cp:lastModifiedBy>k25.rishita@gmail.com</cp:lastModifiedBy>
  <cp:revision>1</cp:revision>
  <dcterms:created xsi:type="dcterms:W3CDTF">2006-08-16T00:00:00Z</dcterms:created>
  <dcterms:modified xsi:type="dcterms:W3CDTF">2026-08-18T03:23:33Z</dcterms:modified>
  <dc:identifier>DAHSEU76zX4</dc:identifier>
</cp:coreProperties>
</file>